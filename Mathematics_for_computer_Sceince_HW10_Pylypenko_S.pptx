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6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33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45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5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9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0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1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2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29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1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5468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30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5365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30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17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3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8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4988" y="541176"/>
            <a:ext cx="7357879" cy="1726163"/>
          </a:xfrm>
        </p:spPr>
        <p:txBody>
          <a:bodyPr>
            <a:normAutofit/>
          </a:bodyPr>
          <a:lstStyle/>
          <a:p>
            <a:pPr algn="ctr"/>
            <a:r>
              <a:rPr lang="uk-UA" sz="4400" dirty="0" smtClean="0">
                <a:solidFill>
                  <a:schemeClr val="tx1"/>
                </a:solidFill>
                <a:latin typeface="Segoe Script"/>
              </a:rPr>
              <a:t>Фінальний </a:t>
            </a:r>
            <a:r>
              <a:rPr lang="uk-UA" sz="4400" dirty="0">
                <a:solidFill>
                  <a:schemeClr val="tx1"/>
                </a:solidFill>
                <a:latin typeface="Segoe Script"/>
              </a:rPr>
              <a:t>проект  курсу</a:t>
            </a:r>
            <a:endParaRPr sz="4400" dirty="0">
              <a:solidFill>
                <a:schemeClr val="tx1"/>
              </a:solidFill>
              <a:latin typeface="Segoe Scrip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2668556"/>
            <a:ext cx="6600451" cy="1670179"/>
          </a:xfrm>
        </p:spPr>
        <p:txBody>
          <a:bodyPr>
            <a:normAutofit fontScale="92500"/>
          </a:bodyPr>
          <a:lstStyle/>
          <a:p>
            <a:r>
              <a:rPr lang="en-US" sz="2200" dirty="0" smtClean="0">
                <a:solidFill>
                  <a:srgbClr val="0070C0"/>
                </a:solidFill>
                <a:latin typeface="Segoe Script"/>
              </a:rPr>
              <a:t>Mathematics </a:t>
            </a:r>
            <a:r>
              <a:rPr lang="en-US" sz="2200" dirty="0">
                <a:solidFill>
                  <a:srgbClr val="0070C0"/>
                </a:solidFill>
                <a:latin typeface="Segoe Script"/>
              </a:rPr>
              <a:t>for Computer Science and Introduction to Problem-Solving Techniques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endParaRPr sz="2400" dirty="0">
              <a:solidFill>
                <a:srgbClr val="0070C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5519" b="13312"/>
          <a:stretch/>
        </p:blipFill>
        <p:spPr>
          <a:xfrm>
            <a:off x="1942415" y="3984171"/>
            <a:ext cx="6212539" cy="2332653"/>
          </a:xfrm>
          <a:prstGeom prst="rect">
            <a:avLst/>
          </a:prstGeom>
          <a:effectLst>
            <a:softEdge rad="2921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9143" y="662472"/>
            <a:ext cx="6204857" cy="2565919"/>
          </a:xfrm>
        </p:spPr>
        <p:txBody>
          <a:bodyPr/>
          <a:lstStyle/>
          <a:p>
            <a:pPr algn="ctr"/>
            <a:r>
              <a:rPr sz="3600" b="1" dirty="0" err="1">
                <a:solidFill>
                  <a:schemeClr val="tx1"/>
                </a:solidFill>
                <a:latin typeface="Segoe Script"/>
              </a:rPr>
              <a:t>Про</a:t>
            </a:r>
            <a:r>
              <a:rPr sz="3600" b="1" dirty="0">
                <a:solidFill>
                  <a:schemeClr val="tx1"/>
                </a:solidFill>
                <a:latin typeface="Segoe Script"/>
              </a:rPr>
              <a:t> </a:t>
            </a:r>
            <a:r>
              <a:rPr sz="3600" b="1" dirty="0" err="1">
                <a:solidFill>
                  <a:schemeClr val="tx1"/>
                </a:solidFill>
                <a:latin typeface="Segoe Script"/>
              </a:rPr>
              <a:t>мене</a:t>
            </a:r>
            <a:endParaRPr sz="3600" b="1" dirty="0">
              <a:solidFill>
                <a:schemeClr val="tx1"/>
              </a:solidFill>
              <a:latin typeface="Segoe Scrip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4864" y="3732244"/>
            <a:ext cx="7081935" cy="1903445"/>
          </a:xfrm>
        </p:spPr>
        <p:txBody>
          <a:bodyPr>
            <a:normAutofit/>
          </a:bodyPr>
          <a:lstStyle/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Сергій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Пилипенко</a:t>
            </a:r>
            <a:endParaRPr sz="2200" dirty="0">
              <a:solidFill>
                <a:srgbClr val="0070C0"/>
              </a:solidFill>
              <a:latin typeface="Segoe Script"/>
            </a:endParaRP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Мета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відпрацювати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повний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ML-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цикл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на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реальних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даних</a:t>
            </a:r>
            <a:endParaRPr sz="2200" dirty="0">
              <a:solidFill>
                <a:srgbClr val="0070C0"/>
              </a:solidFill>
              <a:latin typeface="Segoe Script"/>
            </a:endParaRPr>
          </a:p>
        </p:txBody>
      </p:sp>
      <p:sp>
        <p:nvSpPr>
          <p:cNvPr id="4" name="AutoShape 2" descr="data:image/png;base64,iVBORw0KGgoAAAANSUhEUgAAA2YAAANmCAYAAACR1Zj+AAAQAElEQVR4Aez9bXYUx5q2DUeWsJ/3WfcGpJ6Ai56ARU/AUk/A6DZ+/qIy/R8xAooRAP97u8SvvZa9vSUm0JQn0BYTaMoTuBHgtfZaN1bFG2dKWZSk+sjIz8jMo8hUfsXHFUdUJXHmFRHZM3wgAAEIQAACBRIYjezm6Oif/dFPf2yPfv64M/r7h3ujnz7sa/3rz++HWn/8+8fno6M/RvH6y8ej0T8+vk7WH3/58HbB+s6ds8tWZ75dsb5z195eWX9zx6/n1iO3P7pYn7vt8GLdd1ut99x252Ltu+2mW1kgAAEIQAAChRFAmBWGkoSWE+AKBCDQZAIzkXUhsC4JK4mqv3/8zQkmialYPNlbH9/Z6ae3dmP6m+3Z1zYyR3bDjLRGveiJVhPZR3Y63Y9XY+9Za3eS1bGS8Lm65hFCins1vW2XTyK0tJXwkgDT+shde3KxJmJNwi0RchJ5EnsSg9rqOLmm8ImwU1pKW6vyd0myQAACEIAABBYTQJgt5sJZCECgaQSw15vAzLM1J7gSD9YloZWIrAuBdUlYSVRFViJHwkMCyNuOhkdQmVV2iS+tEmOJsJNISwSbxJt1ZZWQS7x1uj505xRHccVR6blTLBCAAAQg0DUCCLOu1TjlhQAEOkMgFl7qTuiE119/eX8Qdx90Hq5EdM08W3OCK/FgOUgSG4gEB2J+KWBfTCXAJMQkyOSZk0CTgJNgk3DTqn2dk/ftwOUrj57iKb47ZIEABCAAgbYRQJi1rUYpDwQg0CkCM/H104d9dTGMPV7nXQvfxcJL3Qmd8IpM9CzuPug8XA4QostBCHiR+JIIk3iT9+2Zs1VdKSXWJNq0SrTpnDxuiDYHqEULRYEABDpKAGHW0Yqn2BCAQLMIxALs5487Vz1fM/G1YUbqYhh7vM67Fqpx36xCYm1aAqpbiTYJMnncJNAS0aYukxJtiadN4RQ+bdqEgwAEOkGAQoZIAGEWYq1gEwQg0FkCsQBT90PnAYu7Hv7j4+sff/lw7v3q2dcLPF+dZUXBFxKQN1RiLPG0SaTJw6ZV+wi2hdg4CQEIQKB+Aq0TZvUjxQIIQAAC6QjEsx1ejP9SF0QnwN7Oe8DirofWqpGNxyMdUkItJ6DvkL5LVwWbPG3yuKlLpK5L2C1PhSsQgAAEIFAaAYRZaWhJuMUEKBoEvAkkIiz2gp1PwHE+pfzF+C91QXSJ0ih2EFgqJaCxbEmXSHnU1BUy8a5JrOka38tKq4TMIACBrhJAmHW15ik3BCBQGoG4O+LFeLDRFREWe8HOJ+CQB2OFDVyCQG0E9N2U9ywZvyaxpnXes6YwtRlIxhCAAATaSABh1sZapUwQgEClBGJv2E8f9i91R7wYD2YRYZXWBZl5EkgfXF4zec8k1uRZk1dN3SA11b+m/ZfnLX1qhIQABCAAgWsEEGbXkHACAhCAwHICS71hG2ZEd8Tl3LjSSgISYxJlEmcSaRJr8qrpvWvyuLWy0BTKnwAxIACBdAQQZuk4EQoCEOgogdHIbo5+/rgzOvr4ZPSPj6/trY9vLd6wNN+GiQs0iWw0jkx0HJneoVY7tU/j1djH0ZkZzNZptBsla++LO9GC9YfvbkXLVmNMZMzSdcsYc+fKetcd786te25/cLE+ddtkPXT7Wsduq/XEbVU2t2G5QmDTHcurpveuyatm3bG2Q7dFqDkILBCAQGkEWpFwrxWloBAQgAAECiKwTIg5MTG03Z0h8dThnZyLrN6hsfaF4/H0kqi6EFJzwumO278zuH9zd/Ddzb3Bd38ZaH34/e1hvH53+/ng/7t1OFu/vzkeJOve/zsZLFidDVmX2H4XWYIqWSWwJLSS9dhdlwDTKiGRrIlYS0ScBJ1EXiIEta9zup6IO4m6Fy49pan0lZdscKc6t0iQJd0fEWqdq34KDAEI+BDo+QQmbA0EyBICECidgDxif/3l/cG8R8wJj64IMQmuk8h5tGLBlXiy5L2KxdbZlhNYWi9E1l8GP9y/fSBxdUlUXQgp072PhJ6ElwSYhFgi7NSdT0JNgk3CTV47iTkJOZ3TtccO17yA64J4WyTUxErdIh0OFghAAALdJYAw627dU3IIzAh0bUdesViIHf0x+vGXD+9mXRPb6RE7dZ6umfCKvVzW7J13FYxFlwTXXXmzYsGVeLLkvYrF1lYXxEKVPwEJuUTEPXcZS5RIpEmsbbljiTcJOR3LWyfvmwSf4rSxLiTU1PVxfoyaxq1pshGHgwUCEIBAdwggzLpT15QUAp0lICEmr5jeIeaEWPwS58hEz+x0qgagxsU0nc1MfNmpfRqLr17vbtSLhdfW4P7NmfCKvVz3bx2fdxXcqrKh33TGVdqfeOAS79u8cNtyhki06VzbRJt+ixqjpslE3rpySqxJvEq8uUMWCEAAAu0mgDBrd/1SOgh0loDEWOwVm5uwQ+8Qc0Ca/CReAmw863J44flSV8NEfM26GO795WSwt4XwchXeskV1Ku+ZvGgaByeBJqG25cqpVftJF0mFU3h3qZGLujc+cpa/dmsy46Mepqz4DbuQLBCAAAQaSgBh1tCKw2wIQOA6AXnF5mZPfBd7xZrZPVECLO5+aDXmKx7vNfN+7c66HF54vq6T4ExHCUiESYzJy6QukhJpEmtatS/B9tKxURi3adSyyJs2dCWQeHMbFghUSICsIFASAYRZSWBJFgIQqIaAxNhFF8V4rJid2mTSjmoMyJ+LRNhYXrDzLohfaDbDWffDhxrzFY/32lKjO39upNBFAvruSIxJsMnjJJEWORAayyaPmyYg0XWFc6cbsUiQabZHdXdUt0d1f6TLYyOqDiMhAIFlBOaF2bIwnIcABCAQDAF1URz9/cO90dzEHRddFPVEPRg7lxjyWYRd7oYYe8Hi8V97/68mh1gSndMQKJSAxrKpS+S8d02zRjZNrKlrowTna0dHXR4l0jRWrQn3BGcyCwQgAIFzAgizcw78rYwAGUHAn0Asxn76sD+bzj4yR7YBE3doNkRj7YsrnrBzEUY3RP8vAjGqIKAHA1fF2lXPWhV2ZM1DYkwi7cglIJGmrY513p1igQAEIBAuAYRZuHWDZRDoNIFrYmzDjFK/4LkecqeRiY7t3JgwTcih8WB4wuqpEHItjMBVz1rkUlZ3SI1Zk4gLuQukPGfyoCHSXKWxQAACYRNAmIVdP1gHgU4RGI3s5mjeMxa2GJtEpnd4yRv23c09xoSZznw6XlCNSdOYNXV73HIs5FXTe9c0uYi8bu5UcMsikRackRgEAQh0l0Cvu0Wn5BCAQCgENIGHxozZWx/f2nDF2MRc7pZ4Ry9lxhsWyrcIO2omIK+a3rumboMap6ZVok1CTddqNu9a9vMibeSu6thtglswCAIQ6BABhFmHKpuiQiAkAhJjl2dTnKpBF9I4kNPoskfsDt0SDR8IpCUgr9mxC6zftbxpEmohetR0z5GNGovG7I6uwli6SIAyh0IAYRZKTWAHBDpAYHT0z77eM/bjLx/e2p59Hdhsik6IXYwR611MWf/dXwZ4xDrwxaSIVRCQUJv3qEmsSahJvIUyRm1+dkeJNE3Hr3NV8CEPCEAAAqbVwoz6hQAE6iegcWN//eX9QTyj4vTTWzu1Q2dVEI2dyEZjZ8/TaBrt/vDdra1BMkaMKetdFbFAoFQC6t4ooabujhqjpslEkveplZpxysR1j9K9SgLttYsjr5q8a26XBQIQgEA5BBBm5XAl1e4QoKRLCKirYjJuLDLRs4sZFZeEruy084r1Ds8n7DjbGty/ufvw+9vDwfc3NZFBZUaQEQQgcI2AfoPJ+9RC6/a446zVODTN7Kitjt0pFghAAALFEugVmxypQQACXSYg79hFV8V36qpoA3jXmPOKndipnfOK/eWie+JWKN2nUnxlCAKBThG42u0x8abJy1Y3CHnO5EGTJ01CUp61um0ifwhAoCUEEGYtqUiKAYE6CcTesX98fG1vfXznRJC6/9Ta5ceJsbHV+8R6X9xxXrG7eMXq/HaQd2MIhGto4k3TuLTEm6ZzdVosQfbMGSCBpolDmNXRwWCBAATyEUCY5eNHbAh0lsA175i1dXbvOY1MdHypi+J3t58PGCvW2e8nBW8tgcSbJi/alitlCBOISJRJnEmkMWGIq5RVC9cgAIHlBBBmy9lwBQIQWEAgIO+YE2O9Q03cEfXO7mjijvMZFLfoorig3jgFgRYS0G99fgIRTSSi96bpfB3FlRdt6DKWQJNQq/NhlTODBQKdJdDYgvcaazmGQwAClREIyDt2aqx9ITF2PoviXwaauGOwhxir7MtARhAIl4Cm3tcYsC1nojxqEmnysLnDyhd50ZKxaLJJoq1yI8gQAhBoFgGEWZPqC1shUDEBecd+/PvH5/bWx2Sa+zrGjs08YxJjP9y/fSAxVjEKsoMABJpFQGPQJIg0Ji0RaXV40iTINJOjvGja6rhZJLEWAhCojADCrDLUZASBZhCQlRJk8XvHeva1iewjd65qQXYa2ehYnrHzbornnjFnBwsEIAABXwKJSJMnLenu6JtGEeElFCXQXrvEtO82LBCAAAQ+E0CYfWbBHgQ6TSCE7opOjI0vJvDQbIp78ozRTbGVX0sKBYG6CMx3d9TEIRJtVduisWfynkmkSaDhRau6BsgPAoESQJgFWjGYBYGqCIz+9s9+nd0VJcZsPLX9WfzCZybwqKrmyQcCbSewsnzq1qiJQ9TNUd0dJdKqfk+aBFki0LTV8UqjuQgBCLSbAMKs3fVL6SCwlMCsu+KXn97W0F3x1E7tU3VVHNy/ufswntp+Sw2lpfZyAQIQgEBJBDRBiESa3pOmtY5JQ+Q5e+vKJ4Emj5rbZWkEAYyEQIEEEGYFwiQpCDSBwEyQ9exrW/G7x+QdkxjTJB4Pv789VFfFJjDDRghAoDME5DWTSJIXrY7xaMpbY9C0ar8z4CkoBCBgzDJhBhsIQKBFBDR+7K+/vD/48ZcPb23FgkxiLPaO9S66Kn5/s44xHS2qTYoCAQhURCAZjyaRpq6O8qxVlLWR10zeM3nREGiGDwS6QQBh1o16DrSUmFU2AQmy0dHHJ5ruPjLRM5dfVWMYTpP3jcVdFeUd411jDj8LBCDQQAISZOrqKIGmMWnq6lhVMXTPnhdoOq4qb/KBAAQqJoAwqxg42UGgCgLzgsx5q4Yuz0qmu49sNLbnE3ncCeZ9Y67wLBCAAAQKIiCPvzxYEmlVetEkyCTQ1MXxiSuLjt2GBQIQaBMBhFmbapOydJ5ATYLssneMiTw6/z3sIgDK3DkCdXnRJMiGjra6OEqo6dgdskAAAm0ggDBrQy1Shs4TqEuQOW/cU70AGu9Y57+CAIBAlwlU5UW7ylieOwTaVSocQ6DBBBBmDa48TIdAHe8gU3fFSzMrMnaMLyIEIAABEZj3omlGRwk2nS97RaCVTbhT6VPYOgkgzOqkT94QyEjgwkP2zFb3DrLz7opnvbuazINp7jNWHNEgAIGuaje8EwAAEABJREFUENCMjpooRGPRNFlIFe9pRKB15dtFOVtLoDPCrLU1SME6ReBCkMWzLNqpPaig8Kcun8/dFf+/v+gdPxVkSxYQgAAEWkFAXjQJpruuNFVNFqL86OLogLNAoGkEEGZNqzHsDZlAabZdEWQa+F3qLIt0VyytKkkYAhDoJgEJtGTKfQm0Kro5ItC6+V2j1A0mgDBrcOVhevsJ1CXI6K4Y8ncL2yAAgYYTkEBTN0et6uZYdnEk0H5zmTDNvoPAAoGQCSDMQq4dbOssgYoF2fn4sd7ZHQRZZ79yFBwClwlwVAUBec0kmpJxaGXmqV4W6m2h96BV0Q2+zLKQNgRaSwBh1tqqpWBNJTA6+uORvfXxrZ1a/Seq/0zLKsrl8WN7W+pqU1ZepAsBCEAAAosJ6N6bCLSnLoiO3aaURe89e+ZS1hg05el261vIGQIQuEwAYXaZB0cQqI3A6OePOz/+8sEJsulzZ0Qlguzh97eHA6a7d7hZIAABCNROQIJMD+TkQdM4NB2XZZQEml5QjUArizDphkKgUXYgzBpVXRjbRgISZKN/fHxte1ZdTPSfZVnFnFhjBlHv7A6CrCzEpAsBCECgEAIah1alQNMYtO1CLCcRCEAgMwGEWWZ0NUck+8YTGP3tn/1EkFlrd8oqUGSjE2vM4Ifvbt15+N2tQzxkZZEmXQhAAAKFE6hKoG07yyXO5EUr8wGhy4YFAhBYRgBhtowM5yFQEoHRyG6Ojj4+0cuhSxZk42ga7Q7u37wrQZalOMSBAAQgAIEgCFQl0DTuTN0bEWhBVDtGdI0AwqxrNU55ayUQC7LPE3uUYovzkCWCbHfw/U3N+lVKPiQKgYIIkAwEIJCeQJUCTd3rJdTSW0dICEAgFwGEWS58RIZAOgIaR3Y+sYfVwO5SJvZAkKWrC0JBAAJdJNC6Mlch0NSlUZ4zedAQaK37ClGgEAkgzEKsFWxqDYH5cWSuUPpPzm0KXyYXXRbxkBWOlgQhAAEIBE2gSoEmkVbW/2NBQ05tHAEhkJMAwiwnQKJDYBGBi3Fkz0oeRzaxxsSTetBlcVEtcA4CEIBAZwhUIdDkNZP3TO9BQ6B15qtFQaskkEaYVWkPeUGg8QRGR388sufjyA5KKsypndrHySyLJeVBshCAAAQg0DwCVQg0/d/G+LPmfTewuAEEEGYNqKRumNj8UmocWTz9/XT63JWmjHFkEmRPL95DpjxcNiwQgAAEIACBawQSgfbUXZm4tehFHjN1bZQHTftFp096EOgkAYRZJ6udQhdJYHQ+/f0zvSC6pOnv5wXZkPeQ5ag9okIAAhDoFgFNOLXriiyB5jaFLxJlEmcSadovPAMShECXCCDMulTblLVwAmV3W4yMOXQesrsPv7+NIDN8INAMAlgJgcAIyGMmgXbH2fXSrWUsGn9G98YyyJJmpwggzDpV3RS2KAKjn/7YLrPb4mzq++9uDZyHTP+pFmU66UAAAhCAQPMJZCmB/i+RgCpLoMljJs/Zb8447bsNCwQg4EMAYeZDi7CdJ3DRbfGJ3Zj+Vka3xZkgu3+Tqe87/20DAAQgAIFSCCQCbc+lrn23KXTZdqmpe+MTt2VpNAGMr5oAwqxq4uTXWAKa3MPe+vibnVp1CSm6HBpH9niAICuaK+lBAAIQgMBiAsfutLxnA7ctQ6Dp/0oJNHnpXBYsEIDAOgKdFGbroHAdAvME5CX76y8fjzS5hztfdPcMCTJmWnRgWSAAAQhAoBYCmsHxrsu5jAlC9H+mujdq1b7LhgUCEFhGAGG2jAznIeAIJJN7RMbec4c+y9qwcbfF3hkTe6wlRQAIQAACECiZwKlLXx4uedDKmCBEXjMmB3GQWSCwigDCbBUdrnWWwOhv/+yXNbmHteZNNI12426Le1tldB/pbL11r+CUGAIQgEChBPR/kkSUptjXfpGJy2Mmz5kEmvaLTJu0INAKAgizVlQjhSiSQOwl+/LTbyVM7qFui48f3r+1Pfj+5rhIm0kLAhCAQGkESLiLBPR/lLxnZYw/23FANXMjk4M4ECwQmCeAMJunwX6nCZTpJTPWvoh6Z3cefn/7eachU3gIQAACEGgSAY0/k/es6O6Nmw6Cuk5qcpDYe+aOWSDQeQIIs85/BQAgAmV5yeJxZNNo94f7tw8Ge1vqw6/sWCEAAQhAAAJNIaAujereKA+a9ou0W6JM4gzvWZFUSWsZgeDPI8yCryIMLJNAiV6yuNtiPI6MbotlViFpQwACEIBANQQkyiTOyujeiPesmjokl8AJIMwCr6BU5hEoE4HSvGTGHNJt0fCBAAQgAIF2EiireyPes3Z+XyiVBwGEmQcsgraDQIleskk82+J3twZt7LbYjtqnFBCAAAQgUAABec/UvVHjz7RfQJKzJPCezVCw0zUCCLOu1XjHy1uSl0zdFp/+8N2tO8y22PEvGMXPS4D4EIBAswgkszc+Ldhsec80c+NBwemSHASCJoAwC7p6MK4oAmV5yeLJPS5eEl2UraQDAQhAAAJlEiDtEgjIy6XxZxJqRSWvmRufucSO3Cqh5jYsEGg3AYRZu+uX0jkCo79/uGeLfy+ZvGSP48k99raK7sbhrGaBAAQgAAEINIqA/i9U18aiJwe55yjopdTqOul2G7JgJgQyEECYZYBGlGYQGI3s5ujo4zMbGT1t05O3QgyPjDlmcg/DBwIQgAAEILCIQBmTg8hjNnKZaS3s/3OXHgsEgiLgK8yCMh5jILCMwOjnjzv21sff7NQW2T99ElmzN/ju1h6Teywjz3kIQAACEICAkfdMHq6ivWdKU2PPtg0fCLSQAMKshZXa/CLlK0HsJetZdXvQE7Z8iSWxrX3hvGR3B/dvHSen2EIAAhCAAAQgsJJAWd4zibMnK3PmIgQaSABh1sBKw+TFBD5P8FGwl2wa7f5w//YBXrLF3Bt7FsMhAAEIQKAKAmV5zzThiARacQ9hq6BBHhBYQQBhtgIOl5pDoJQJPhIv2fc3i5xlqjlQsRQCEMhNgAQgAIEZgTK8Z+rSqB4y6uI4y4gdCDSVAMKsqTWH3TGBkib4mER4yWK+/IEABCAAgeAJNMnAMrxn8phpUhBNrd8kFtgKgWsEEGbXkHCiKQTUdbHwCT6sfRmPJcNL1pSvAXZCAAIQgEDzCJThPdNkX28dCgk1t2EplgCpVUEAYVYFZfIonMDo6I9HejeZS7ioG/CpZlz84f7tfcaSOaosEIAABCAAgXIJlOU907gzibRyrSd1CJRAoPPCrASmJFkigVnXxen0ucumkHeZRDYax14yZlx0SFkgAAEIQAAClRIo2numtoG6NWrVfqWFITMI5CGAMMtDj7iVEiih6+KpndrHg/s3dwd7W3pyV1Z5SBcCEIAABCAAgeUE9H+wJvB47IKcurWIRV4zec+K6llThE2kAYGVBBBmK/FwMRQCP/7jjwdFdl201ryRl+zh97fleQulmNgBgRwEiAoBCECg8QT0f/JdVwoJNbfJvUiUSZxJ9OVOjAQgUDYBhFnZhEk/NwG9MNrYqbo6FNMlwdoXD+/f2sZLlrtqSAACEOgaAcoLgfIJSJTdcdk8dWsRi9oOmrXxSRGJkQYEyiSAMCuTLmnnIqCui3/9+4cTO7XqjpArrYvIk2Qa/ItjNhCAAAQgAAEIBEbgwpyh2+66VULNbXIvSo9ZG3NjJIEyCSDMyqRL2pkJjH7+uKOui1Fkvs6cyFzEyJhjdV0cMA2+4QMBCEAAAhBoCIGxs1Pi7KXbFrGoa6NeSL1TRGKk0WgCQRqPMAuyWrptVDwVfs/qxqnuB3lhnE/w8d2tvcHeVlEDivPaRHwIQAACEIAABNIRkMdMY8Q0MUi6GKtDJeKMro2rOXG1BgIIsxqgl5plgxOPp8L/5cPInk+FX0RJJs5LtssEH0WgJA0IQAACEIBArQQ0MYjGnkmoFWGIujZq7FkRD4GLsIc0IGAQZnwJgiCg8WT21sffrDF6KmZyf6x94UTZXeclO8mdFglcI8AJCEAAAhCAQA0EJMo0a+OLgvJWm0OzNsqLVlCSJAOB7AQQZtnZEbMgAsl4MpdcETfGuOviD/dvHzhRRtdFB5UFAg0lgNkQgAAEFhHQ/+2aFExdG7W/KIzPObU9NHzink8kwkKgDAIIszKokmZqAgWPJ1PXxbt0XUyNn4AQgAAEOk6A4jeYgLo2ynsmL1reYkicHblEGHfmILDURwBhVh/7Tuc8GtnNUZHjyax9edF1sYgbdKfrhsJDAAIQgAAEGkJA/+dLnBXVtVHjzp4VXnYShEBKAgizlKAIVhwBjSeb3vw4Lmg8WdJ1cZ+ui8XVESlBAAIQgAAEGkJA3RmTro1FmKy0GHdWBEnS8CaQR5h5Z0YECIx++mPbfvnpdUHvJ1PXRWZd5GsFAQhAAAIQgIC6NhY1a+O2w6lxZ+ri6HZZIFANAYRZNZzJxRH48R9/PLAbU88bnYu4YIlsNL7ousisiwv4cAoCEIAABCDQQQLq2rjryn3s1ryLRJk8Zw/yJkR8CKQlgDBLS4pwuQiMfvn4xNjpoTEm9/tCrLFPB/dv7g54YbThUxABkoEABCAAgbYQkDjbc4V56ta8i9osarswKUheksRPRQBhlgoTgfIQGGmSD2OHedK4iHsaWbP38LvbRaR1kSQbCEAAAtUQIBcIQKBSAmorSKBpDFrejJUWk4LkpUj8tQQQZmsRESArAc28+Ne/fzixxugFjibnR+PJ7g7u3yqie0JOU4gOAQhAAAIQCJIARl0moDaDZm2UF+3yFf8jJgXxZ0YMTwIIM09gBE9HQDMv2lsffytiko/ImOOL8WRF3FgNHwhAAAIQgAAEOkNAbQeJM4m0vIXedgkUMlbepdPgBdPLIoAwK4tsh9O9mHlRA2Y1cDYXCWvs08F3t/YYT5YLI5EhAAEIQAACXSag7ozq1ljEuDO1bSTOJNK6zJSyl0AAYTYHld38BOZmXtSA2TwJnlpjBowny4OQuBCAAAQgAAEIzBEYuv2BWyXU3CbzInGmB9DM2JgZIREXEUCYLaLCuUwERsXNvKjxZLsPv7ulmZAy2RJwJEyDAAQgAAEIQKA+AmpbqGujujjmtUJpMWNjXorEnxFAmM1QsJOHgESZNXaYJw3Ftda8iXpnu4O9Ld5PJiCsEMhEgEgQgAAEILCCgESZ3ndWRFtDbR/E2QrYXEpPAGGWnhUhFxDQzIujoqbDt/bFw/u3tp0o0w1zQW6cggAEIACBYAhgCASaTUBtDXnOXhRQDImzUQHpkETHCSDMOv4FyFN8ibLpzY9ja0zu6fCtsU9/uH9bU9EaPhCAAAQgAAEIQEAEKljV9ihiUhC1hTTuLO8Y+wqKTBahEkCYhVozgdtV4HT4TPIReF1jHgQgAAEIQKDlBIaufJq1Me+kINsuHYkzTQ7idlkaQiAYMxFmwVRFcwyJRdmXnzRVbN4bD5N8NKfasRQCEIAABCDQZgJ6z5m6NhywUb8AABAASURBVKqLY55yqm1URBspjw3EbSgBhFlDKy6V2SUEunhHWRE3nFiUDZjko4RaIkkIQAACEIAABDIQkCjTpCDaZog+i4I4m6Fgx4cAwsyHVsfDxqJsY5pblEU2Gke9s7tOlOW98XW8RsIoPlZAAAIQgAAEWkRAbRN5zsY5yyRxpm6N6t6YMymid4UAwqwrNZ2znIW9ONraF4P7N3cHe1t5+3HnLBHRIQCBBhHAVAhAAAJVElAbRZ6zvDM2aiIQibMHVRpPXs0lgDBrbt1VZrlEmbFTvURRN5jM+VpmXszMjogQgAAEIFA2AdKHwDUCRc3YqDaU0rqWAScgME8AYTZPg/1rBEa/fHxyIcpMno+d2scPv7s9zJMGcSEAAQhAAAIQgEDFBNR2eVxAns9cGk+M+8MCgWUEEGbLyHDeSJRZY4c5UZxG02j34fe3n+dMh+gQgAAEIAABCECgDgJqwxQxnb7aVE/qKAB5NoNAUcKsGaXFytQEChJl5zMvfn8z7wDa1HYTEAIQgAAEIAABCJRAQNPpa9yZJgfJkzziLA+9lsdFmLW8grMUr1BRVuh0+FlKQxwIQAACEIAABCBQCIETlwrizEFgKYcAwqwcro1NtWBRlvepUmM5YniDCWA6BCAAAQhAYDkBtW0QZ8v5cCUHAYRZDnhtizr65cPI5hxTZq15wzvK2vbNoDwQgEDRBEgPAhBoNAGJM73rTB60PAUZusiaFMRtWCBgDMKMb0FM4FyUmX2T52Pty97G2Q7vKMsDkbgQgAAEIACBQgiQSLkEknedaexZnpw0jf4oTwLEbQ8BhFl76jJzSYoSZT/cv72PKMtcDUSEAAQgAAEIQKBZBCTONFvjy5xm68F4Q8VZzpIT/RIBhNklHN07KEKUWWOfSpR1jx4lhgAEIAABCEAAAkbC6qnJ91EaiLN8DBsfG2G2pAq7cLooUfbwu9vDLvCijBCAAAQgAAEIQGAJAbWFEGdL4HA6HQGEWTpOrQuFKAuiSjECAhCAAAQgAIH2EECctacuaykJwqwW7PVmiiirlz+5Q6BaAuQGAQhAAAIVEkCcVQi7bVkhzNpWo2vKgyhbA4jLEIAABCDgT4AYEIDAPAHE2TwN9lMTQJilRtX8gKOjj8+sMRpcarJ+XPwBY8qy0iMeBCAAAQhAAAJZCTQsnsTZIKfNarMxIUhOiE2KjjBrUm3lsHX0y8cndmr1rozMqVhjnCi7dZg5ASJCAAIQgAAEIACB7hBQm6kIcfakO8hqL2mtBiDMasVfTeaxKDNWT24yZ2gRZZnZERECEIAABCAAgc4SKEKcqQ2HOOvAVwhh1vJKnomyHOVElOWAR1QIQAACEIAABLpOAHHW9W9AyvIjzFKCamIwRFkTa63ZNmM9BCAAAQhAAAILCSDOFmLh5DwBhNk8jRbtI8paVJkUBQIQmCfAPgQgAIGmEkCcNbXmKrIbYVYR6CqzGR398cgypqxK5OQFAQhAAAKtIkBhIFAagaLE2YPSLCTh2gggzGpDX07GP/7jjwd2On2eJ3XGlOWhR1wIQAACEIAABCCwksC5OFsZZO1FpYE4W4upWQEQZs2qr5XWjn76Y9vYqX6oK8OtuogoW0WHaxCAAAQgAAEIQKAQAmqv5Z1KXw/itwuxhkSCIFCGMAuiYF0zYvS3f/btxvR1nnIjyvLQIy4EIAABCEAAAhDwIpBXnG263NT2Q5w5EG1YEGYtqMVYlH35ST9M/UAzlcga+/Thd016eXSmYhIJAhCAAAQgAAEIhERA4uxpDoPU9jty8ftuZWk4AYRZwytwTpRl/kGei7Lbw4ajwHwIFE+AFCEAAQhAAALlE1AbLI84UxtQD+i1Ld9aciiNAMKsNLTlJzwa2U177inL/EO0sacMUVZ+bZEDBCAAgcUEOAsBCEDAERi6tQhxJg+aS4qliQQQZk2stQubpzc/jt0uosxBYIEABCAAAQhAYCkBLjSDAOKsGfVUmpUIs9LQlpvw6JcPoygyX2fNxeIpy4qOeBCAAAQgAAEIQKAsAkOXcB7PmSYCeebSqGEhy7wEEGZ5CdYQf/TLxyfWmH2T9WPty4ff0X0xKz7iQQACEIAABCAAgRIJSJy9zJG+2ohPcsQnak0EEGYpwIcU5FyUWf1gM5kVGXP8w/3b+sFmik8kCEAAAhCAAAQgAIHSCaitlkecqa2IOCu9morNAGFWLM9SU/vxH388sCa7KLPWvDG9s7wvMyy1jB1OnKJDAAIQgAAEIACBeQIH7uDErVmXoYv4wK0sDSGAMGtIRY1++mPb2KnedZHV4klv42xnsLd1mjUB4kEAAk0ngP0QgAAEINAgAmqz7Tp7J27Nujx3EbfdytIAAgizBlRS/K6yjaleHpjV2knUO9sdIMqy8iMeBCAAAQikJUA4CECgSAJ5xZmmz+cdZ0XWSIlpIcxKhFtE0rEoy/euskSU5XnaUkRRSAMCEIAABCAAAQgUQqBjiagNl8dzlogzbTuGrlnFRZgFXl/TLz4dOxOzvqvs1HnK9pynTD9olwwLBCAAAQhAAAIQgEADCagtt+fslgfNbbwXtSXlOfOO2OEIlRcdYVY58vQZjo4+PsvzrrLImoETZXkGjaY3lpAQgAAEIAABCEAAAmUSUJtO4ixrHhprNsoamXjlE0CYlc84Uw7xtPhTq9l4MsW3U/t4cP+WvG3X43MGAhCAAAQgAAEIQKCJBMbO6MduzbpoGn6m0c9Kr+R4CLOSAWdJPve0+MY+ffj9bc3CkyV74kCgEAIkAgEIQAACEIBAKQTUxnuaI2Wm0c8Br8yoCLMy6WZIW5N9GDvVDy5DbBfF2hcPv7utH5w7YIEABCDQagIUDgIQgEBXCait9yJH4dXWVNfGHEkQtWgCCLOiieZIT6LMns/AmGnWnMhG4x/u387c/TGH6USFAAQgAAEItJQAxYJAsATU5lPXxiwGqq2pVzFpUpAs8YlTAgGEWQlQsyaZcwbGidn4M8+A0KxmEw8CEIAABCAAAQhAIA+B7HHV9tOMjVlSkCiTOJNIyxKfOAUTQJgVDDRrcjlnYEzeVZZ1CtWsZhMPAhCAAAQgAAEIQKA+Amr75XnH2bYz/ZlbWQIgULYwC6CI4ZuQcwZGvatsd7C3lfVpSfiAsBACEIAABCAAAQhAYBkBtQHlOZNIWxZm1XnN1KhukavCcK0CAgizCiCvymL09w/3rLHDVWFWXYvO31WmH+SqYC2/RvEgAAEIQAACEIBApwnoHWd5ptGX12yn0wQDKDzCrMZKiCf7iIx+CJmssMY+5V1lmdARCQL+BIgBAQhAAAIQCJvAoTMvzzT6Gm+mcWcuGZY6CCDM6qDu8hyN7ObFDIzZfgBMi+8oskAAAhBoFwFKAwEIQCAngaGLn3UafU0C8trF19ZtWKomgDCrmvhFfvbmR70/IpMos9a8YVr8C5BsIAABCEAAAhDwIUDY9hPQeDF1bcxSUrVNM/fmypIhcT4TQJh9ZlHZnib7MJF5kDHDSW/j7F7GuESDAAQgAIHsBPQUWQ2ekUtCT5X1gI0xGQ4GCwQgEBwBTQaSdQ6CAiYDCY5HIwxCmFVcTaOfP+5Yk3myD2ZgrLi+yA4CEIDABQE9QX7n9rVVo0WC7JE7lkB767Z6yuw2LBCAAASCICBRJnGWdaZG3et0nwuiMF0xAmHmWdN5gseTffSsnrRmSsYa85hp8TOhIxIEmkRA/xEOncFa5Z3Rsd4zI2+NO81SAwGJL9XFsqwlyiTOniwLwHkIQAACNRBQd8Y8MzWqzar7Ww2mdzNLhFmF9Z5nsg9r7NOH393SbDsVWkxWNREg2+4S0H+CEgFq4GvVE0sd/+aQyFujVfuaOUvd6CQW1LUZ4eYAlbSoHiSO0yQ/dIEk0GjIOBAsEIBAEATUdsw6U6PuZfr/JoiCdMEIhFlFtRyPKzNGX3Dj+4mMOX743W39h+8blfAQgEBzCEgAqIvcKos33UWJMIkxdaOTcNN/mhJrEm1atS8xNy/cJCwU10VPFrYpCIjZujq5mozu8xJnqk/Fv3qdYwhAAAJVE1Ab8jhjpvo/R//XZIxONB8CCDMfWhnDjn75sG+NHWaMPjG9s0HGuESDAASaQ0Der7zWSgjoP1EJsXnhJqEm0aZ1XrjpviSRp/CKmzf/tsUXSwmtLOUSW7EW2yzx2xGHUkAAAqEQUFtS486y2KP/n7JOWpclv87GQZiVXPXxuDJjsj5pSCb7yDpws+TSkTwEIFAQATXeqxBGykNiQ/lJuMmrI49bItysK4/EhI7lcZO4SIRbVoHikmzsIlZ5jBczsVQXVe3nSYu4EIDAEgKcTkVAbcldF1Jbt/Fe9H8C9zFvbH4REGZ+vLxCj0Z282JcmRpDXnEVOLJmwGQfIsEKgdYTyPoUswwwEiOLhJu6580LN4mNoTOgzcIt073bMbm6qDukBJq2V69xDAEIQKAqAvq/Rp6zLPnpfqj7mLZZ4jc9TiX2I8zKxLz5h55GZ3q6YI19Orh/K2t/4DJLRdoQgEDxBPSfpWbPKj7l4lNMhJtEhu5xicctEW7a6j/vRLgpnIRepnth8eZ7paiyekVYEVjlFxOt2l8RlEsQgAAESiOgtmWeyUB03y/NuK4njDAr6RswOvrjkZ1a9cn1zqHSyT68rSMCBCBQEoE8UxqXZFKmZCU6JMQkyPQfuISIhJoEm3UpaqtjCbqhO1Y4hS9SBLlkC1m+LiSVy4movCq/tpevcAQBCECgGgK6944zZqW2rdaM0Ym2igDCbBWdjNficWXTqb70WVLQZB9taaBlKT9xWkiAIqUioP8k5TlLFbjBgRLhpi6Q88LtN1emkISbbJOtzqzCF6UrwapV+4VnQIIQgAAE1hDYc9ez/p9T5v3RmdXdBWFWQt3nGlfWO9sd7G1l/aGUUBqShAAEKiTwa4V5hZqVhIo8aMuEm2aWlMcp8bjpya3Cy+NW1NgHzT6W9eGaD1d5zVQWbX3iERYCEIBAXgKaBETiTFvftHSv1b1LW9+4hF9BAGG2Ak6WS6Ojj5qBUQ0L7+h2ah8jyryxEQECbSLwVZsKU1JZ1BCQEEuEm+65aiDI4ybRplXHEm6aRcxHuCltPQnWC1lLMv9asvr/Qp4z2az9awE4ERIBbIFAqwhobDPjzQKqUoRZgZURv69satUI8E/V2hcPv7+tRoR/XGJAAAJtIKBGuQRHG8pSZxkkrsRRwk2vBFgk3CTi5oWb7tsSRxr/VoWnbBEf2Sy7JAwXXeccBCDQFQLVllNtz5cZs9S9U/fajNGJdpUAwuwqkYzH8bgyY7L+hzqJNjKPSctoMdEgAIHACNQlCALDULo5Em7q9qjGRCLcJN7UnVDXSjdgRQbKX98DCUQJ9RVBuQQBCECgMAISWFmH0eihFvergqqiSmFWkMlhJjP94pOmH83yxTyNzseVZenjGyYMrIIABHwIyFOibmwa1+QTj7DtJaD/SyTOsj4hhxJkAAAQAElEQVTsay8ZSgYBCJRBQG3QrC+f1gMlibMy7OpcmgizAqp89MvHJ1FkMk2rbKf2KePKCqiEWRLsQCB4Amp06+mk/iNLxkNJnAVvOAZWTgDvWeXIyRACnSUgj1nW8Wb6P4wHSQV8dRBmOSGOfvpj2xo7zJQM48oyYSMSBGon4GfAVSEmT0goXef8SkLoOgjo+6PvDI2eOuiTJwS6RUDjzV5kLLLawhJoGaMTTQQQZqKQcR2N7KbdmGoAeZYUGFeWhRpxIBA+ATWkNV5JHjE1qLUixMKvt+AsvGLQ0B3ru0TDx4FggQAESiOge428Z1ky0P976tqYJS5xHAGEmYOQdbE3P+rJghph3kkwrswbGREgECoB3QOuCjH956Rzuhaq3djVPAL6Pmk8ooQ+jZ/m1V+IFmMTBK4S0HizrO830z0K7/5Voh7HCDMPWPNBR7982DeRyTRY304t7yubh8k+BJpFQP/x7DuTJb7kwdCqfZ3TNXeJBQKlEtAYRU2tr+9cqRmROAQg0EkCed5vpvuTZr2dA8duWgIIs7Sk5sLlmRo/MuaQ95XNwWQXAuETkNhSA1jiSyJMq/Z1TtfCLwEWtpGAvnv6HmrVfhvLSJkgAIH6CKhXmGYcz2IB96Us1FwchJmD4LtMv/xT3Uj6vvFc+InpnWWd8cZFZ4EABCogoC5iEl36j0UiTKv2dY4GcAUVQBZeBPS9VPdGbb0iEhgCEIDAGgIDdz3LeDP9P6r/N110Fh8CCDMfWi7s6OiPR5Gx99yu9xJNowFT43tj63oEyl8+Af0Hokatng5KhGkKe/2HonMIsfL5k0N+Avqe6jurVfv5UyQFCEAAAsZovJnEmcnw0URF6taYIWp3oyDMPOo+7sI4nWq2Go9Y50GtsU8H398cnx/xFwIQqJHAMiH2yNnU0UatKzlLGwjoYQLeszbUJGWAQDgE1HbNOoW+JgLh/1WPukSYecCyX37Sf3hq1HnEioNOHn53exjv8QcCEKiagH6zarBe9YghxKquCfKrgoAaQfKcadV+FXmmy4NQEIBAUwnI86UJQXzt1/+/uhf5xutseIRZyqof/fIxq+o/1dT4KbMhGAQgkJ+A/iNAiOXnSArNJqDfgGZuVIOq2SXBegh4ECBoaQSyTqFPl0aPKkGYpYAVd2E0NpPHy07tU8aVpYBMEAhkJ4AQy86OmO0moN+GJqvS2Em8Z+2ua0oHgbIJaBKQrBPYZXVulF2mrOmXFg9hlgLtRRfGFCEvB2Fq/Ms8OIJAQQTU2NQEPOqaKI9AMlkHXRMLAkwyrSMgUSZxpsZR6wpHgSAAgcoI6P9djTnzzVD/b9OlMQU1hNkaSDm6MDZvavw1LLgMgZoI6IZ+VYgdOVskxLbdlgUCEEhHQD0/JNAk1NLFIBQEIACBywQ0S6Nma7x8dv0RXRrXMzIIsxWQcnVhNIYujCvYcqm7BFKUHCGWAhJBIJCRgESZxBnes4wAiQaBjhNQl0aJsywYdN/RPShL3E7EQZitqOZcXRi/u3W4ImkuQQACnwkgxD6zYK8YAqSyngDes/WMCAEBCCwmcOxOv3Sr76L/7+nSuIIawmwJHLowLgHDaQjkJ6AbM10T83MkBQjkJaAn1/KeaYIQ/S7zptex+BQXAp0moBlf5T3zhbDjIiiu27BcJYAwu0rEHV90Ycz0pbGGLowOIQsErhLQWDB1YdC7ADVZB2PErhLiGAL1EdD/d5pIRw9M6rOCnCEAgesEwj2jcWZ0aSy4fhBmi4D+P3/Kzer99DCehZEujIuIcq7bBPQ0Xo0+dZ3a6TYKSg+BYAnIe6YHJvr/T/vBGophEIBAMAQ0Q+OLDNaoja17TYao7Y5SlzALlurolw/71tosjUdmYQy2VjGsRgK68eppfI0mkDUEIOBBYN+FlWdbW7fLAgEIQGAlAT10pUvjSkTpLyLM5lidd2E06m41dzbdrjV0YUxHqspQ5FUzAf2WaNzVXAlkD4EMBOQx00MVrdrPkARRIACBjhDI26VR3rOOoFpfTITZHCP7xSepfu//hOjCOAeRXQicE9CNthui7Ly8/IVAGwnoN4z3rI01S5kgUCwBujQWxBNhdgFSXRhNZB5cHPps6MLoQ4uwXSGw4wrq/ZDDxWGBAAQWEKjxlH7H8pxp1X6NppA1BCAQMAE5N7J0adSkQ2ozBFy06kxDmF2wtsao29XFUfqNi/d0sLeV5YuYPhNCQqB5BDQLY/OsxmIIQGAZAXnPNIkPY0aXEWr+eUoAgTwE1KXxccYE9OBHPW0yRm9PNISZq8vRLx8lyryfBNKF0cFjgQAEIACBrhBQw0mzrKp7o/f/mV2BRDkh0GECevG01hUIFl7S/YSHPg5N54XZ+YQfVu5Xh8NroQujFy4Cd4yAnpx1rMgUFwKdIaBuR29dafVQ021YIAABCMwI6N1mWdoAup90vrdN54WZ+X/+1HtbZt+mtDvWXJ6FMW08wkGgIwROOlJOigmBLhPQQ00JND3t7jIHyg4BCHwmIFH29POh15488l4R2ha408JsdP7OMm91Htlo/JAXSbftt9CE8jTJRs3QpLVJNmMrBCDgT0CiTOJMT7v9Y+eLobx3XBLbbmWBAATCIfDcmZKlDaDfc6e7NHZWmJ13Ycw24YfZ+FNuWvedY4EABFYQ0CBgPTlbEYRL4RHAIghkIlCV90zj3CQC3zkrJQg13k2TkmhfEwhIrLlLLBCAQM0E1FbO0gbQ71u/85rNryf7zgqzrO8ss8YyC2M931VybR4BdWfMemNuXmmxGAIQkCiSQFLDajWNbFeVvkTY0EW/2nDTNc0cKaGGB80BYoFAzQQ0Y/mLDDbot13WPSSDOdVG6aQwk7cs6zvLHn53W/8hVFtL5AaB5hLQ7Ex3nfm6QbsNCwQg0AEC+n9SAk3dkoosrkSXBNiqNHVdY8e1XRWOax0gQBFrJ6B7QZb//9Wdsej7R+0w0hjQSWFmv/ykm3saPpfCRNNIT/8vneMAAhBYS0A3ZYkzedDWBiYABCDQCgISRvq/tqjuhfKGKc00cBSus0/c0wAiDAQqJJC17dyU33ChKDsnzDThhyOom7bbpF/0zrLB9zezDGRMnwkhIdBeAupnvuuKp63bsEAAAh0hIEElgaZtniL7NtLuuczUJcptWCAAgRoJqO38MkP+8pjJc5YhanOjdEqYqQujNZkm/OjeO8ua+53G8nAJSJRl6W8ebomwDAIQSENAD0PlOdOq/TRx5sOogeYbT6KMsWbzFNmHQH0EJLDUBvC1QA9k9Fv2jdfY8J0SZub/9+cjV1O+N3fjxBwTfjhwLBAogICm0J0lww4EINApAvKaZfGeSdBlAYUwy0KNOBAonoBEWZZ3m0mUSZwVb1GgKXZGmMXesqmVYvetislD3lnmy4zwEFhGQDdnrcuucx4CRRMgvbAI6OGohJZW7a+yTo2yNOGWpfH1sguchwAEKiegB7Pq1uibsdru6+4VvmkGG74zwuxienzvioh6ZxoX4x2PCBCAwFICCLOlaLgAgc4QWOc9U/dFNeIULisUpZE1rmc8gkMAAikIZPGaKVk9oNG29WsnhFk84UdkHvjWZjzhx96WZpTzjUp4CEBgOQE9BV9+lSsQgEBXCOgpuBpcelm0ujhqX1PdJ8d5PV5Kn/tNV75NXShn88uohy1ZxprrIYvW5hNYU4JOCDPLhB9rvgZchkBlBDTmg4ZSZbjJCAKNIKB7ghpd8o4VPZuixFkjIGAkBDpCQO82y9JzRg9uWo8oBGFWKuTYW2aM943ZiTkm/DB8IFA4AfUVLzxREoQABCCwhIAE35JLnIYABGogIFGWpUuj2vISdTWYXF2WrRZm8YQfGb1lTPhR3ZewmpzIJQAC8pZ5dykOwG5MgAAEmksgb3fI5pYcyyEQLgFNBHKSwTzNrr6ZIV5jorRamF1M+CGF7VUh0TQaeEUgMAQgsI6AfocaO7IuXLOvYz0EIBAaAT0QCs0m7IEABIx5nAGCRFmre960VpjJW2ayTvjx/U0NTszwfSEKBCCwgIBupBrYL3G24DKnIAABHwKE9SIgYaZ7kFckAkMAAqUTUFtbq29Geq9Za9sTrRVmF94y38o2pneWpd+rfz7EgEB3CLT6JtqdaqSkEGgsgdY24kqsEZKGQBUE1ENNY85882rtRCCtFGajoz+2s3jLrLFM+OH70yA8BFYTkChrdbeD1cXnKgQgEACB7QBswAQIQOAaAaNXUjF9vvn8aaUwM9ZmUdKTXm+qwYif6bAHAQjkIaBpr4d5EiAuBCAAgQIIIMwKgEgSECiJgNreWbxmevBbkkn1Jds6Yabp8a213jdha4y8ZVm+GNdqjxMQgIBR16EsD0gMHwhAAAIFE/im4PRIDgIQKI6A2t5ZhhHtOBO0uk17ltYJMyewsijoCdPjt+dL3ZGShFxMiTJN9sGA+5BrCdsg0B0Cuid1p7SUFALNIyCvWZaJQFr3ALhVwkzeMvdd9L4BR9ZkmbLTZcUCAQgsIKAbpffvcEE6nKqdAAZAoBUE9JDIuydNK0pOISDQHAJZvGZqa7RqHHurhFkWb1lkzOHg/q3j5nxvsRQCQROQx7p1XQuCJo5xEGg6gWrs364mG3KBAAQyEpDHTKtvdLU79PDFN16Q4VsjzEa/fFTFSDn7gWZ6fD9ehIbAcgKP3CUm+3AQWCAAgeAIIMyCq5JqDSK3RhDI4jWTKGuN16wVwmz0t3/2rbH7vl+52Fu2t6WpOn2jEh4CELhMQI0e9RG/fJYjCEAAAmEQ+DoMM7ACAhBYQUAes5crri+7pAfDEmjLrld1Pnc+rRBm5ss/HzgSeMscBBYI1EBAv72jGvIlSwhAAAJpCejhUdqwhIMABOojMHRZa6ZGt0m9SJS1wmvWeGF24S3zrgzLy6RTf9sNISGwnIBuhpqBUeJseSiuQAACEKiXgO5V3KfqrQNyh0AaAurJluWl063wmjVemNkvPg1dLeuG6zapF71M+jB1aAJCAALLCGQb27kgNU5BAAIQKJkAExOVDJjkIVAQAQ2N6KTXrNHCTN4yExl1Y/T6HlhjXw4YW+bFjMAQWEBAoszbW70gHU5BoCoC5NNtAnRn7Hb9U/rmEJAo66TXrNHC7MJb5vs1mzz87vbQNxLhIQCBSwTuuSN+Rw4CCwQg0BgCFU0A0hgeGAqBkAl00mvWWGGW3VtmskzFGfIXF9sgUDUBjdMYVZ0p+UEAAhDISQCPWU6ARA+IQPtNkdcsS5u90WPNGivMsnvLbjG2rP0/ZkpYHgGJMk324TuuszyLSBkCEIBAOgK6b+keli40oSAAgboJyGumyUB87NDvXEMtfOIEEzY0YZYKDN6yVJgIBIEyCBy7RGnYOAgsEIBAIwkwAUgjqw2jO0wgi9dM498b2VZppDDDW9bhn2chRSeRjAT0BIoxGhnhEQ0CEAiCAN0Zg6gGjIBAagLq6ebrNVPi+/rTtLVxvAKkfAAAEABJREFUwgxvWdO+YtjbEgLqs81kHz6VSVgIQCBEAo18ih4iSGyCQIUEBhnyUrtF3RozRK0vSuOEGd6y+r4s5NxZAnrCrH7enQVAwSEQKgHs8ibwjXcMIkAAAnUTGDsDtLpN6kWiTF0aU0cIIWCjhBneshC+MtjQMQJ6unzUsTJTXAhAoL0E1FjTfa29JSy+ZKQIgRAIZBlr1jivWaOEGd6yEH4X2NAhAmrAaAZGGjEdqnSKCoEOEFAvgA4UkyJCoEkE1toqj5nWtQHnAqgd0yivWWOEGd6yua8ZuxCohoC6LyLKqmFNLhCAQHUEmJmxOtbkBIEiCbTea9YYYWa+/PNBhpqdPPyu3veWZbCZKBAIgYBmYMzymwvBdmyAAAQgsIoAD5xW0eEaBMIlII+ZVh8LG+U1a4Qwk7fMGus97aU1Jouy9qlswkIgBAJF26Df2rDoREkPAhCAQCAEeO1HIBWBGRDIQCBL274xY80aIczMl592XMX5PuHCW+agsUDAk4B+Z8884xC8EwQoJARaQ0D3OT1Fb02BKAgEOkRAHrMTz/Lq996IsWaNEGbO86VuVV514OJkUdReeRAYAi0joMaKJvvQDaxlRaM4EIBAIwhUZ6Qe+FaXGzlBAAJFEniRIbFGeM2CF2ajXz6oW5UajD51gLfMhxZhIXBO4NhtfH9rLgoLBCAAgcYR4F7XuCorzmBSajyBQ1eCiVt9Fj10lqbwiVN52OCFmfN84S2r/GtBhh0koO6LjLvoYMVTZAh0lAD3u45WPMVuDYEsPePkNasKQKZ8ghZmeMsy1SmRIOBLQA8/GtH32rdghIcABCCwhABdGZeA4TQEGkJAvXxOPW2Vpzzo337QwsxEkfd03c7DlkVBe9Zrh4NT9LYR2HYFYgZGB4EFAhDoFAE10NS1qVOFprAQaBEBibIsY830MDpYDMEKs9HPH3estb6qlrFlwX7VMCxAAmqYHAVol8EmCEAAAhUQ0IOpCrIhCwhAoCQCz126Emhuk3qRttCaOkKVAYMVZjay3gP0rLEvq4RHXhBoMAE9KdYMjBJnDS4GpkMgMwEiQgBhxncAAs0mIFHWKq9ZkMJs9Ld/9k1kvLsx9npTzdLS7K8Y1kOgGgIjl03frSwQgAAEukqggglAuoqWckOgMgJZvWZBtoGCFGb2i09D3+qMjDkc7G35Tp3pmw3hIdAGAupffa8NBaEMEIAABHIQCLY7U44yEbWLBLpdZnnNsvSYC3LSs+CEWVZvmemdMelHt3+YlD4dAU0V6/3gI13ShIIABCDQKAJ6Yq5u3Y0yGmMhAIFrBOQ1u3ZyzQn1zAvu9x+cMDNffkqeYK3h+fky3rLPLNiDwAoCaoQgylYA4hIEINA5AtudKzEFhkD7CKjH3NizWBJlwXnNghNm1hh1s/JjO42yuDD98iB0Swl0plgSZZrsQzeizhSagkIAAhBYQwBhtgYQlyHQEAJZes6pF1FQxQtKmGV5oXQURePB9zd9VXJQlYAxEKiAgF7EKHFWQVZkcY0AJyAAgVAJMAFIqDWDXRDwIyAtoNUnlh5We/fU88nAN2xQwsxEkfp7epVhapki3wsYgbtI4JkrNI0PB4EFAm0mQNkyEQiqUZapBESCAAQSAlm8Zv499ZLcStgGI8w06Ye11vcGOXn43S2myC/hi0GSrSGgG05wfahbQ5eCQAACTSegngR6at70clRlP/lAIGQC8phplkYfG6U9tPrEKS1sMMIsyxT51pgsyrg0mCQMgcAI7Dh7mOzDQWCBAAQgsIKAxNmKy1yCAASqJZArtxcZYgfzCqEghJm8ZSYyvt0YT3u9MynjDPyJAoHWE1BDY9T6UlJACEAAAvkJ6CFW/lRIAQIQCIGAps739ZpJgwThOQ9CmGWcIv+4aS+UDuHbig2dIKCbi2ZglDjrRIEpJAQgAIEcBBiDmwMeUSEQGAGJMt/Z2tVuCmLYRxDCzGaZIp8XSgf2O8CcQAjIDHnKEGUiwQoBCEBgPQGmzF/PiBAQaBKBLPNPBDF1fu3CbPTzR3Uh8GpExlPk723pZXJN+pJgKwSqIKDJPoLpK11FgcmjDgLkCYFWEZAw0xPzVhWKwkCgwwROXNl9hzvpHiBN4qLWt9QuzGxkvV2HZ1ObZWBffZTJGQLVENDTHib7qIY1uUAAAmUTqDZ9ibNqcyQ3CECgTAJZJgjUw+0ybVqbdq3C7GLSj2/XWnk5wOQ/7t86vnyKIwh0noC8zoiyzn8NAAABCGQkoMH/GaMSrckEsL21BOQx03gznwLKYybPmU+cQsPWKsymN/7vvm9prDFZFLBvNoSHQJMISJRpso9abyZNAoatEIAABK4QUBdw7qFXoHAIgYYTyNLDzrsnXwpGqYPUKsyiXuT9hIop8lPXLQG7Q0AeZImz7pSYkkIAAhAoloBEWa0NsmKLQ2oQgIAjkGXqfA0LcVHrWWoTZv/59w96OuXVmIyMOWSK/Hq+KAtz5WQIBJ45I5jq2UFggQAEIJCTgBpkEmg5kyE6BCAQCAF1Zcwydf5OXfbXJsxcxt7dGM008oVbF1fyhUAVBDRItfVPeKsASR4QgAAEHAGJMt1X3S4LBCDQEgLqVeRblNruA04f+dqaP3zWST8G39/UQL78BpACBJpPQE9zmOyj+fVICcIggBUQSAjoYZfur8kxWwhAoNkEpB20+pRC9wA9qPGJU0jYWoTZ9Mv/e8/Xeib98CVG+BYTUBdgvUS6xUWkaBCAAARqI6D7q+6zBRtAchCAQE0EXmXIVw9pMkTLF6UWYRaZSP24vSxn0g8vXARuNwHNwEijod11TOkgAIH6COj+yn22Pv7knIcAcRcROHQnNd7MbVIv3loldcorAlYuzEY/f5R7UDe9FWZdvhQZJv24TISjDhNQv2ev30+HWVF0CEAAAlkJ6D6LOMtKj3gQCIuARJnvPBXqyijNUmlJKhdmNrJZJv3whVkpRDKDQEUEdJPw//1UZBzZQAACEGgZAcRZyyqU4nSaQJZJQLxf65WXcKXCbHT0btNExreQEyb9yFvNxE9HIPhQ95yFaii4DQsEIAABCFRAQPfcty6fWsabuHxZIACBYghoAhCtPqmp3bXpEyFv2EqFmZluqIBeNltjnnpFIDAE2kvA+/fTXhQNLhmmQwACTSSgd0ZKoO000XhshgAEYgK/xn/T/5Eoq7SnUrXCLIp8vWWGST/Sf3sI2XoCX7W+hBQQAhAohACJlEJA3jONO9NaaWOtlNKQKAS6R+B5hiJ/myFO5iiVCTO9u8xa6/WkiUk/MtcrEdtJQE9u2lkySgUBCECgOQTUltGU+vKgabvdHNMLtZTEINA0ApoExLc7o37veihTSVkrE2bTG//X++nSmTVZ3jtQCTgygQAEIAABCECg0wTUWFPb5jdHQav23S4LBCBQHIHCU8oyRKqy33ZlwizqeXdjnPzH/VtZZlApvAZJEAKBENCTnkBMwQwIQAACEJgjIK+ZvGfyokmwzV1iFwIQCIiAPGa+7SnvoVhZy1uJMMv47jKBy1qu4ONhIAQyEPAdtJohC6JAAAIQgEAOAhJlEmd652SOZIgKAQiUSOCFZ9r6XatLo2c0/+CVCLNM7y7rnflC8y89MSDQLAK+HuRmlQ5rIQABCLSHwNAVRQJNDTq3ywIBCAREIIvzp5KZsSsRZiYy33hVho1OBntbJ15xCAyB9hPQjWTS/mJSwmYRwFoIQGAJAYkyzeCobo5LgnAaAhCogYDaU1p9sq6kO2Ppwuw///5BClM3p9SFdx42vGWpaRGwYwSyDFrtGCKKCwEItI5Acwuk9g/irLn1h+XtJeA7waBmxi69O2PpwsxlIGHmVa28u8wLF4G7ReDQFdf3KY+LwgIBCEAAAjURUINO4kwirSYTyDYNAcJ0ioDaU74FLt1r5nSTr03pw4+O3m2ayHi9mC2KovFgb4vuWukxE7J7BPZckfmNOAgsEIAABBpCYNPZKXGmrdtlgQAEaiagmRl9H3TL2ZT3N7yy2KUKMzPd8C7A1NqXKy3mIgQgoJvJrsOAOHMQWCAAAQg0hIA8ZkcNsRUzIdAFAr6aQ6JM2qY0NqUKM2uNt/G9D2fMPGca+MHkqglIlN1xmTLmzEFggQAEINAQAhqjctAQWzETAm0nIM2hh90+5Sy1O2NpwixTN0ZjDgeDLV9APjAJC4G2EdCUzBJoA1cwX5e8i9KsBWshAAEItICA3nGmJ+8tKApFgECjCUhz+L4jdtuVuLTfb2nC7KIbo7M9/XJmje8MKekTJyQE2ktA3jMNYlX3xsgVU0JN6123r/FoctUrjDtkgQAE1hDgMgTKJqBGHV6zsimTPgTSEXieLtgslH6/92ZHBe+UJswydGM8/Y/7t+RSLLiIJAeBzhGQCNOqdwHqN7XvCEioyaum8+6QBQIQgAAE6iNgHrm81cBzGxYIQKBGAmoryXPmY0Jp3RlLEWYZuzGqAekDhbAQgIAfgcSrxm/NjxuhIQABCBRNQKIMr1nRVEnvMgGO0hCQKPPtsVdad8ZShFmWboxmGqm7VRqAhIEABLITkMcs6d6YPRViQgACEIBAXgLymuVNg/gQgEB+Anpw7ZOKHqyU0p2xFGGWoRvjZPD9zbQTF/iAIywEILCYgLo3yn2/+CpnIQABCECgbAJq3GmWxrLzIX0IQGA1AWkQec5Wh7p8tZTujIULs4zdGAXkcnE5gkCtBDqRuTxnvjeiToChkBCAAAQqIlDKU/eKbCcbCLSJgG/PvVK6MxYuzM7ONvyf/tCNsU1fbMrSHALq1viiOea20FKKBAEIdJ3AN10HQPkhEAgB3/H3pXi8CxdmLkHfpz+ndGMM5CuJGV0k4Hsj6iIjygyBRhPA+KAJlPLUPegSYxwEwiSg3nu+vYi+LbooTkcVnGRkvIyMjKFhaPhAoDYCGmcmz1ltBpAxBCAAgY4T6Leg/BQBAm0g4Ds7o68zai2jQoXZ6OeP6sYo197ajJMAZ9b4QkiisoUABIoh8GsxyZAKBCAAAQhkICCvWYZoRIFA1wiUXt4sszNK+xRmWKHCzEZWM735GHf6H/dv4THzIUZYCBRPAI9Z8UxJEQIQgEBaAl4PtNMmSjgIQMCbgHoR+XZnLNRrVqgwM5HxG8RqLU/qjTHeXxsiQAACEIAABCDQFgIIs7bUJOVoOgGJMl9tUui0+YUJs9FPf8gV79VP2kYR3rKmf4WxvykEsBMCEIAABCAAAQhAYDUBX22iByuFdWcsTJhNozNvV17vw5lv4Vej5CoEIJCFgB6qZIlHHAhcIcAhBCAAAQhAoNEEsmiT8IRZtNHzm40xisaDwZZcho2uPYyHQAsI+HVBbkGBKQIEINBgAu0znXG+7atTStRcAtImmjrfpwSFtaMK8ZiN/vbPvrHW66n71NqXPiUmLAQgUAoBPeWRG76UxEkUAhCAAATWElBDcG0gAlRLgNw6TcB3xvjC2lKFCC9dC/sAABAASURBVDPz5ScZ5FWDvd6Zrxr1Sp/AEIBAKgK+M6mmSpRAEIAABCCQmgAes9SoCAiBSghk6c6YpT11rTCFCDNrjd/4MhudDPa2uBEZPhConUBh7vfaS4IBEIAABJpHQN4yTdHdPMuxGALtJSCN4vu79BrStQxdIcLMe5p8M/WdinKZ/ZwPkQA2NYWAPN1eM6k2pWDYCQEIQKAhBHwbfw0pFmZCoPEEfLszakhX7qEhuYXZ6OePatx5GRLZXhYXYeNrmAJAIDACfp7uwIzHHAhAAAItIODb+GtBkSkCBBpBwHfIlbSQxFmuwvVyxXaRbTT1bdxNBt/f9C2sy4kFAhAomEAhbveCbSI5CIREAFsgUDYBHlSXTZj0IZCNgLSKuhr7xPbVRNfSzi3MTK/nNUYlMkYFNXwgAIFaCeipDt0Ya60CMocABDpOQO2hiTEdp0DxIRAuAV+PtpcmWlTsXMIs0zT5xjC+bFFNcA4C1RJQF+RqcyQ3CEAAAhCYJ8Brg+ZpsF8uAVLPQkAPT3zi6aG3ujT6xLkUNpcwY5r8Syw5gECTCDxokrHYCgEIQKBlBDTr22HLykRxINA2Alm6Gu/ngZBLmPlOkx9F0bjgafLzlJ24EOgqAXVh1FOdrpafckMAAhCom8DTug0gfwhAYC0BjTHz9Zp9vTbVFQFyCTMTGa++lHY6fbPCFi5BIFACrTOLboytq1IKBAEINIiApsjHW9agCsPUThPwHYKVawKQzMJs9NMfeuLu1Y8yYpr8Tn+zKXwwBOjGGExVzBnCLgQg0BUCe10pKOWEQAsI+HrMpI0yPwDPLMymG2e+mZ4yTX4Lvp4UoekE1I3R97fb9DJjPwQgcEGATe0E1IVR48tqNwQDIACBVAQkzNSlMVXgi0ByXl3s+m0yC7Ne1PN7B5K1vq5Av5IQGgIQSEMAUZaGEmEgAAEIFE9ADbxh8ckGlyIGQaBtBHw1jJ9GmqOVWZhZa70aeDaKssxsMmcquxCAQAEE6MZYAESSgAAEIOBJQF6ygWccgkMAAksJVHpBD1V8MpTHTF0afeLEYTMJs9HPH71EmXLq9c402FW7rBCAQD0EdJPw/u3WYyq5QgACEGgVAbowtqo6KUzHCPg6l9TekjjzxpRJmE3N1LdxNxnsbSHMUlQPQSBQIoFcMwWVaBdJl0hgc3PT7O/vm+fPn5vRaBRvdVxiliQNAQhcJqAZGLVePssRBCDQFALyeGv1sddXK8VpZxJmvY2e1zT5kTG+LkDDBwIQKJzAvYsU2bSYgITYzs5OLMB+++038+7du1iQPXr0KBZo2kqgvX371ty7d6/FJCgaBIIgoMbc0yAswQgIQCAPAd9xZl5aKTEskzDzHV82Nca3MIl9bCEAgeIIZB6MWpwJpFQGgR0nxJ48eWJev35tJLi0lQDb3t5eml2/3zdHR0dGcZcGynWByBCAgCOgcWUSZ26XBQIQaDABXyfTtivrplu9Fm9hlnF8mW9hvApBYAhAYC2BnbUhCNAYAv1+3xwcHMTCSh4xCbHhcGgksjY3N73KIXHmG8crAwJDoEwCYaf9wpk3disLBCDQfAK+v2X9Z7ztW2xvYTb1HV9mo5PB3hZPi3xrhvAQKJaA982h2OyzpybRIG+QuuUl3qD9/f3sCTYwphiozOqCKCEmDs+ePTPqiqhreYqk+Eo7TxrEhQAErhFQu+fg2llONJIARkPAEdBvWqvbTb14PxT3Fmbe48sie5LafAJCAAJlEdCTm7LSLiVdCQYJMomQofMGbW9vm36/b3Z2duIxUxIppqUflV3l1IQdKr/EmMorAaVrRRdbeRWdJulBoOMEdjtefooPgTYSeOVZKJ9xZnHS3sLMd3zZmTW+hYgN4w8EINBdAvOCbJkQkUiR16gtlCSOVG51S5QQ01bjxCRGyy7j7du3y86itPQTbhKuYqaumRK0Ol9apiQMgdUEnrrLvk/WXRQWCEAgcAK+zqZtV55Nt6ZevIRZlvFlGxu8vyx1bbQxIGWCgAcBiS15iOQhWybI5pNT+DTh5uOEsi8PoMaJSUwkQkzlRlCsrqF+v79wfJ2+C2Kn7p0StOKq75LOr06RqxAolIAE2bDQFEkMAhAIhcDY0xCJsm2fOF7CbNqbeiXuDNH7y3STcrssEIBAjQSC/h2qQa1GtLwefdfwTstpc3PTKG7a8HWG6/f7RiJBZZQQ05g5efxkv8pRp20vX76sM/uVeYuNGMkLpu+IVnGTANO1VZH7jrl4a10XdlU6XINASgKnLhxdGB0EFgi0lIDaUlp9irftE9hLmEU22vFJPDLGV1kaPhCAQCkEfN3vpRhxNdGdnZ14ind5N/quEX31epOPJQQkHuYFhQSCxJmuhVS28XgckjlG34XEmyghpu+HvGA6n8VQMVcaWeLOxWEXAusI6Ifk22hblybXIQCBsAj4vgJsx8d8L2FmIuM1iG1qjK/xPrYTFgIQSE9AwkxPc9PHKDHkzs5nQab9PFmdnJzkiV5YXIktlUVCTCJAXjGNd8ojKAozbkVCr169MpPJZEWI8i+J3VURK6+YeOpaERao66jSLCIt0oDAEgL33Pm3bu27NeNCNAhAIHACegDjY6KXdkotzEY//bHtrNh0a+ql12N8WWpYBIRA+QRq76+mhrZEi1bt5y3y4eFhraJCZVjk2dH5vGWrKn5dwlaM5ic7qULEqq6Ub1VsyaeTBCTKXruSq83kNiwQCJAAJuUh4CvMpJ10X0iVZ2phZjamvjeZ08He1kkqKwgEAQhUQeB5FZksyqPf7xuJqKIEWZKHvD3JfhVblUONe4kIecRUHnlh1NgvyrNTRTnqyEN89vf341cdJOyGw6HZcd7TKu2RGKwyP/LqJIG+KzXizEFggUALCaiLyalnuXbShk8tzKw1qRM1+lj7qzYVrmQFAQisJqCbyYvVQYq9qsa4hIvGCT148KDYxF1qZXt7ZH8iJlQGrSqPut3pmjOh8cs333j1svAqr0SXhJAErMRYCGPs1KWxLXXnVRkErpqAnpJLnEmkVZ03+UEAAuUS8NU4qf+jTS3MTC/62qeMTsiNfcITFgLNINB4K4euBBJoblPeooavGuQSMvIwlZdTsSnLbokJjRPTrInzYkLesmJzCyO1IoWKGKm+5z2Kw2H1XrFVZFXHsnNVGK5BoCACEmejgtIiGQhAIBwCY09TUju3Ugmz0dG7TWPtto8RPdOjG6MPMMJCoBoCcr9rOmdtC89Rjd5EkA1dg1zHhWcyl6BE1Nxhpl2lIZsTr462mrBDgiVTgkVEqjAN1ZHKnyVLxRU/CVmJcK1N8Ch2pW6z1ClxCiegBpnWwhMmQQhAoDYCvhpHnnM9qFlrcG9tCAX484aXKFOUwfc3x9qyQgACwRGQx6xQcaYGuhr3apgPKxBkCdEs3SP7/f7CFxRLYCTpdm0rL5fqL025E34SsKpvbSVkdT5N/BDCnJ6ehmBG7TZgQGUEnlSWExlBAAJVEPAVZrJpW3/WramE2dRMvZ72RFE0Xpcx1yEAgVoJ6KZy11kgkeY2+RY17IcVCrLEWokpeWiS40Xbzc1Nk4wTU9dEiQnFadM4sUXl9j2n+tMYsKveJPETK3nF5vmJva755hNCeIRZCLXQKRvUhtrsVIk/F5Y9CLSRgJ7uqR3lU7btNIFTCTMntFIllmRop9M3yT5bCEAgWAISZXecdU/dmmXRjSmO1+/3420dfyQKJbYkviQqZEsiJHReYkKCQ9ebKiSq4ipGydg6ecISfhozJq9YW/iVPWlMVfVFPo0isN8oazEWAo0iUIuxvhOA6AHNWkNTCTMTGa+JP6YGj9la8gSAQDgEhs6URKBJrLnDpYvEmGZ2VFfI2dOir776ammEKi5IjEl8SVRITCRCQueryL9teUiA7ezsmDbyG4/HBo9Z276xjSiPVzuqESXCSAh0m8CsDZQSQ6qZGdcKs9Hf/qlH4VpT5mvMxsbZusZd6rS6HJCyQ6BCAvrNJgJNIm3P5f3YrfKmaTtw++r6uOW2B24du5UFAo0j8P79+8bZjMGtIODVjmpFiSkEBNpNwLcdtOlwrL0PrBVmZ1982nYJ+Sy8WNqHFmEhUC+BRblLpB27C8/dKrGm7aHbv/p0aHaD6ff77jILBMInoK6t4VuJhS0kwE2yhZVKkTpNQG0l9SLygbC9LvBaYRZ5TpMfRdHVxts6G7gOAQg0k4Ce/sSWq+tbvMMfCCwkEM7JrS05fcOxB0s6Q2B2v+xMiSkoBNpPwFfz7KxDslaY9TZ6qfpEJhkx8UdCgi0EWk9g1tBAmLW+rltTwK+/ZqhPayrzakHCPp7dL8M2E+sgAAEPAr6THa71nK8VZtbTY8bEHx7VSVAINJfArJGBKGtuJXbR8n6/bzSxieEDgeoJ9KvPkhyLJkB6EJgj4DvObK2za6Uwu5j4Y9YAmzNk6e7GxpmvW29pWlyAAASCJTC7LyDMgq0jDFtC4MGDB0uucBoCpRKY3TdLzYXEIQCBqgj4ah7dA1Y+oLkQZkvsv/HnysgLYmniDw2GW3CJUxCAAAQgAIH6Cezv7xu9864KS+Sh07v29DoHvRtufn3+/LnZ2dmpwgzyCINAPwwzsAICECiIgDRPoROArBRmUzP1+h+DiT8Kqua2JkO52kRAT33i8mxubsbbLH/0PqmTkxNzeHhoXrx4YR4/fmwGg4HZ3d2drXfu3DF3796dHeuawijs06dPzfHxsRmPx0ZpZbGBOP4EJpNJzF31pjpQfezt7c3qSPV1x9Wb6ipZdX0wGBiFVzzV2cnJiX/mBcXQu+7yfHeXmTEvxDQDpN6r9+zZM7O/v292dnYurY8ePTISagrz5MkT0+/3lyXL+XYQ2GxHMSgFBCAwR8D3P7KVN/qVwswJre25jNfuMvHHWkQEgEBbCMwaGD6NWzXGJcDUSFfD/V/+5V/Mv/3bv5kffvghFmW69vLlS/Prr7/O1t9//928efNmdqxrCqOwT50w+9//+3+bf//3fzdK61//9V/NrhN1Oq+8EGv5v24SYWItUSXBlXAWd9WbWKs+Xr16Nasj1ZfqTXWVrLqucAqveKoz1b3SU51JaEtkK7/8Vq9Pod/vx6JI2/Whl4dQ/MQjdlWIpf1tKI3hcBjbIwG3PDeuNJxAv+H2Yz4EIHCdwJvrp1aeWTkD1UphZnrRVyuTvnJxaqLxlVMcQgACHScggaRGtxrgaoxrX410NdyLRqNGvYSAGv/KS3mq0a/jOr0zRZezzPQkZuXRkhATP4ld1ZlElQSXrheZv9JTnUn8SewpP9WZ8tO1IvO6mpa6M8pjde/evauXlh5LRB0cHBh1TcwqxJYlrrSVrrxny8JwvtEEZg+0Gl0KjIcABOYJ+HrMduYjX91fKsxGR+82jeeMjBsbZ5OrGXAMAQh0k4AEmRrYEkhqdJfdyF5GWY1+CTN5Z9Tol+BApF2mpbpRHam+JMbk0apCGF1g2p5dAAAQAElEQVS24vOR6kz1pDrTVoL789Vi9ySG1K1RAm1/f9/oeD4HHef1iM2nl2Z/6LxniLM0pBoX5rafxYSGAAQaQGDsaaM855vL4iwVZubPG9vLIi07P9jb8lWNy5LiPAQg0FAC84JMDeyQiqEGvgSHGvzqlqf9kOyr2hbVlbxhEqzahlpfsk/iWvVXFqOdnZ3YC6bxXtZaM79Nxoil7ZpYhI1DJ84kCItIizSCIaAGWTDGYAgEYgL8yUtATqlTz0SW3guWCrNpb+olzKKIboyelUJwCDSZwOym0u/343JMJpN48gd5yEJr4McGXvmjbnnyxqjRr63svxKktYcSZLu7u/HYPHnK5DELvbASZvpuVSWmk+91nVzkNQvBjjoZtCzv85tlywpFcSAAATMxfp/tZcGXCrPIGr8biLW+RpkSPyQNAQhUSECNZnmhmiDIrmKRIFNjvwsCbV6QNbWuJKJVV6q3q3XZtmN56DTmrG3l6nB5lnZf6jATig6BNhDwnQAkgzDr9VbOGnKV4nRqfY26mgTHEGgYAcwVAYkaCbN1XpevvvrKfPPNN+bBgwfxKm+A1h9//NGsWhVGq6YW//bbb+M0vv7a6/Zk0n5UFnll5EVKG6cJ4coWZKpb1YnqR/Wr+tK6ql51TWG0qm4VT98PpSNBsoqrRJnEmb53q8K14drOzo7ZcWsbykIZzKbhAwEItJGA71CupY2YpR4z6znxR8/0fI1qY8VQJgh0hkAURSaKokvlVQNdjXM1tNXw/u///m/zP//zP2Y6ncZjdjTBgjwAWtUg17q/v2/2V6wKo1XjfJJJGn777bc4zf/zf/6P+a//+i/zj3/8wyhPNezXNeovGbzgQI1+jbdSw1/7C4JUeypHbhLLKovEZhEeMokmCSjVhZjP163qRPWTtW4VT98PpaN61arvj/JRfvpeXa1fCTONFWx6Pa2r4h2E2TpETbreb5Kx2AoBCKQi4KuBtpel2lt0IZ6R0Ri/Jzt//OlrlOEDAQg0lsCme3hjtKrBrAa0GtKaMEGNczWkJbY0HXm/3y+tkBJharRqunPlqYa97JA9OlZDPmvmauxLnKnxnzWNOuPJS6bupXm8fxLaErwSv+Iq0SQBpXNiXnbd6vujfJSfvlfz9SvBJsGuMEWIzjrral3e+o2tC5P3OvErI+DXtqrMLDKCAARyEPDVQLoPaL2W5UJhlmFGxtPBYMt3RpJrxnACAhBoDIHZDUUNY60SSaFYL3vUmFdDXl4dee+yijQJMwk0CbVQyrfODtksL1kWm1WPYicxJqEtgSvxq/Pr8q3quupXgk3CTEJRXryq8q4jH5W3jnzJsxQC5T2pKsXcQhMlMQi0lYA0kFaf8m0vCrxQmGWYkdFXKS6yhXMQgAAECifQ7/eNvHeJSFMjXp4gn4wkcLIKHZ98igiryTEkzHzTknCVGJNnLBFjvmkQvjwCffc9Li91Uq6QwGaFeZEVBDpIoLYi+2qh7UWWLhRmvjMy2un0zaLEOQcBCEAgJAJ917iVh0Vd8uRF8xFoTRBnGk+mCUx8mKubnASZhKs8Yz5xCQsBCHgT6HvHIAIEINAEAr5aaOG9YLEw85yR0VrDVPmm3A+pQwACxRFQtzx50dRVz0egJeJMk2oUZ00xKclL5jOeTJ5DdfPU2C0EWTF1QCoQSEHgqxRhCAIBCDSPgK8WSi/MrLULAy9jxIyMy8hwHgKNIuBj7Kw7jkSOT8TQwvoKNIkzdRcMqRyyScIsjU3qsihBJs+hPIhp4hCmfgKq4/qtwIICCGwXkAZJQAAC4RHwFWYLp8y/5jG7mJHRS5gZZmQM7+uBRRAol0BrhFmCSQJNXRw1ocS6Lo6vXr0ymvUwiVv3No1QlCBLuiz2+/0aTSZrXwInJye+UQgfLoFtZ9rs/un2WSAAgXYQ8L1R6z/ia/eCa8LMfPpCAX0QMSOjDy3CQgACwRKQ90/CTOOt1NVvlaFv3rxZdbnSa6umi58XZDu8D6vSeikqsxC7zhZVttLSCTvhg7DNwzoIQCADAXnMfGdmvKa5rgmzs970WqBVxkVR5KsQVyXHNQhAAAK1E+j3+0Zd/dTlTwJNgu2qUYvOXQ1T1fEiWxBkVdEvP5+QHgKUX9pO5PDIlfLak3J3jqVhBDAXAlcISJxdObXycPvq1WvCLLL2WqCrkeaP7XT6fv6YfQhAAAJtIdC/EGj//d//bTRJiGYwlOCRV02CLZRyyjbZJfuSd5DJ64eHLJQaymcH48vy8QswtkTZKEC7MAkCEMhHwLcrTf9qdteFWRRtXw206thag8fM8IFA5wjMZhZbNx6rDWT6/b7RGDTNYCjBI2EWUrnu3btnZJfs4x1kIdVMMbYwxqwYjoGlcs/Z88StLBCAQHsI+HrMZm2pBMF1YdaLbicX02wtXRnTYCLMVQIcQwACEIBAKgJ4zFJhamKgoTMaceYgsECgJQR8hdn21XJfE2bWsyvjho18B7pdtYFjCEAAAqUQIFEINJ2AJv5AmDW9FlfaL3H21oXYcWuaZdMF2nerukK+dttkfe725YVzGxYIQKAmAr69CPtX7bwkzC6myteP/mq45cdMlb+cDVcgAAEIQKDtBEot32QyKTV9Eg+CgBpnicDSjI1Xn6LrusTYkbNWIk6iTMcSc8mqCUWS6/LC+bXlXMIsEIBAbgK+N2z9TrXOMr4kzJgqf8aFHQhAAAIQgEDtBH7//ffabcCAyghIZD1zuf3mVju3vjXGSIzJI3apEefCXF0k4uSFUxpXBd7VsBxDAALFElAvQq0+qeo3Owt/SZgxVf6MCzsQgMBqArMbSb/fXx2SqxCAQGYCTPyRGV3XI+rGLHH2oOsgKL8HAYIWQcDXa6bf6izfS8Isiuyli7NQS3aYKn8JGE5DAAIQgAAECiCAMCsAYreTeO6Kv+1WFghAoBoCuabMvyzMrPETZs2YKt/wgQAEukUgmTBhMpl0q+AlllYstYptidmQ9BUC8L4ChENfAur6qLFn2vrGJTwEIOBPoLiujFGv97VX/jai1eMFjMDtJUDJ6iYwHo/NYDAwd+7cMf/yL/9i/vVf/zVee72euXv3bnxNYeq2syn5SxA8ffrU7O7uXuIptlp1/uXLl0ZirSllaqKdeMyaWGvB2ayH7gfBWYVBEGgngVwzM17ymFljvJ6o9KIIYWb4QAACdRKQ2JII+/d//3cjobBosoQ3b97E1xRGgqKxYqIC0BJkjx8/jsWYhNmvv/5qdG4+ax3rvISwmD51Am7+OvvFEBBnrcWkRiodJ6BZGzuOgOJDoBICp565XHKKXRJmxlo9VUmf3o0/fTNPnzYhIQCBkAnM7hX9fr82OyUgJAx8hJYEhYTcixcvarM71IwlYP/t3/7N+LARewkzeSW1H2rZmmhXXd6yJrLC5rUE9OBdsz6uDUgACEAgFwFfj5l+m7MMZ8IsyzvMBntbvpnPMmYHAhCAQB4C8tb4CIireUnU5Yl/Nb2mH0uU5fEmKr5EMh6e4r4JYlpcaqQEAbNtwvlgCQTaSsDXaSVhpjXmMRNmWd5hFqfAHwhAAAIVE5CHRt0W82YrcaaukHnTaXp8ebr29vaudVn0LZfSGQwGvtEIv4SAeC65xGkIZCFQX/eGLNYSBwK5CdSSgISZ71CvBcIssrOTaYoRRRHesjSgCAMBCBRKQN27JMyKSvSHH34oKqnGpiOBWpQIePXqlUHsFvNV0He9mJRIBQIxgdvxX/5AAAJlE5A488lj5s3+7DHzHF/GO8x8eBcbltQg0GUCEhFFll+CRGKiyDSblJZEVNHlL1I4N4ll0bbSLbRoop1P733nCQAAAtUQeOOZzcw5NhNmU8+XS7sMfd10LgoLBCDQEAKrzJzdQDY3N1eFK/yaRJQm7yg64efPnxedZGPSK2OcnepIgq8xEAI1FI9ZoBXTXLPo6dTcusPyZhHw9ZjNuhnPhFkUmdlJk+JjrUGYGT4Q6CSBmRqrWpgVMa5sUY1pkoWueieK9pYlfMU02V++5coyAoiyZWQ4n4MAwiwHPKJCwIOAr0b6Kkn7szDr9WYnk4urtjaKfDNdlRzXIAABCKwlUJYXRqJM61oDWhagLJ7ChLAQhezr77//nj0yMS8T4EgE1GZDmIkEKwTKJ+DrMdtKTJoJM2vM7Cm4SfHZsJFvpilSJQgEIACB5QTevy9viMRkMlmecUuvwDPcikXYhls3DbVs3FC7G2M2hkJgjoBvg+LrJO5MmBnPyT/MjT99M03yZAsBCEAgE4F3795likekxQTguZhLCGcRZiHUQqtseNmq0lAYCIRNILNG+izMFnrMlpd6sLeVOdPlqXIFAhBoAIGZd73qMWbb29ul4Skz7dKMzplwmWUuM+2cxW5E9C52rW1ExTTTSPVwwmPWzLrD6mYS0G/Ox/LZPB+xMBsdvZudSJmKb4YpkyVYJwlQ6KYRaJ0w+/rrr03VIjOESu/3+6WZsbOzU1raXUgYj1kXarmyMv5aWU5kBAEIiIB0klbtp13j/5BjYWb+vBEfpI1pbIS3LDUsAkIAAkUR+OabbzIntSriwcHBqsutvSYxWgZTCb5vv/22tdzKLpi8ZVrLzof0O0PguDMlpaAQCIeArzCLH3qfCzPPQkQ945uZ4QMBCEAgLwF5YYoWEhIRRaeZt5xVxn/y5Enh2T148KDwNBuSYCFm4i27jFEPEC6f4ciTAN0YPYERHAIFEPB1YsVOsnNhZm18kNYIO52WNzVaWiMIBwEIdJJA0UJCIkLirJMwXaGLFrti+ejRI5cyS1YCXZwhdBkrfZ9+++03o4lqXr9+bfQy+P39fdPtMYzLaC08rynyfRuICxPiJAQg4EXA950nnz1m08hPmDmz+JE7CCwQgED1BHZ2dkxRDf979+6ZooVe9UTy5zgajQobY3d0dFRYWvlL1swU3rx500zDS7B6OBwaibPNzU2T/Pb1fZVYe/v2rdH+/v4+37nl7BlftpwNV1YR4FpeAr69C/vKMPaYRZHZNB4fa41vZoYPBCDQGgKz+4UaS3WU6tmzZ0aerjx5a8KPH3/8MU8SueMeHx+bly/rn8W63++b//qv/8rduFUjWVxzg+l4ApPJpOMEzouv7+Wq37muS5TpeyePmh4K6Pg8Nn8vCBxfbNlAAALVEvDVSnHbKhZmzs74wG3TLc2d/CNd+QgFAQisIjC7X9QlzGScGmNZvV3yuKlbVJ32qwwvXrwwh4eH2q19Vdew//7v/zZfffWVty1qIMuDsaoR7Z1ohyMgzM4rX96y8710f+UB130h8aTpe5kuZmtDSeGPW1s6CgaBsAno9+dj4W0FjoVZ1Ot5/U9smfxD7FghsIQAp6siIGH2P//zPybt5B0KJ8+QPG51i7KqGPnko4asGrXimkagiaHCStDhKfMhvTrsycnJ6gAduarfa5ai6nu8v79v9F2WUNNxlnRaEAdR1oJKpAidIbClksbCTDs+pdSp7gAAEABJREFU64aNTn3CExYCEIBAWQTU6JL3SwJNgkvTtKtBl6zy4ui8rivczs5OWaZ4p6sp0SVuvCMqQomrxJYatf/4xz/i8XwJS23FVx5HCVwxVdgQy1AinlKTRpSd45UHV7/t86PsfyXQ5M3V9zR7Ko2N+aqxlmM4BJpPwNdjFjvJYmFmPWdlNDf+RJg1/wtDCSDQKgJqxEkwaJyJBFiy6om5zut6aAUOVZglnNQ1TKI2Yamt+OqcBC6CLCFV3FbfieJSy59SXSlImBWVt76nw+Ew9qCFeB8oqpwL0hkvOMcpCECgGgK+wiweJhILM2dffOC2aReEWVpShIMABCCwhIDGEnWsobiEBKcTAszIeE5CDwXO94r7q9+aPMEd8Z5JlDWlrVZcJZMSBJpLINZimYTZYG/LVwU2FxOWQwACVwn0kxNq6CT7bP0IJJ4RPc33i0noNhOQWG9z+dKWrcwxi0PnPZPXN60tDQ1HN8aGVhxml0Wg8nR9tdK5MBsdvYt3KjeXDCEAAQh0mEDSAEeYdfhLsKDojDEzRg98tC7AU9ipg4MDo7FnLf79jQuDRUIQgEBVBDblMdv0zM1XAXomT3AfAoSFAASaSSDxmKWZ/bCZJcTqLAQQZsYUOb5sVR0oH42b3NzcXBWsidfUTmNqzybWHDa3jYB+iz5lcsLs0xd+dyRmZPQBTFgItIEAZSiBwPv37+NUW9gojMvFH38CEuta/WO2K4YmlqmqRBJnmtCmqvwqygdvWUWgyQYCBRNwwiyyXsIs4h1mBdcByUEAAl0kkHRlLLvLVnPYYinesvPvgF7LcL5XzV8JwZaNOXtZDTlygQAE1hDI4DFbkyKXIQABCECgeAKJZwSPWfFsm5pi4kVtqv1F2K3fg7xYRaS1MI0lJzXmTAJtyeUmndZMjHjMmlRj2NpmAuddY9KX0HnMPN9hNrXWV/2lN4eQEIBAEwjMvOxqRDXB4BBtlHcEb1mINVOfTfpO1Jd7GDnXIcqSkuudhy24p/2alIdtfQTIGQIXBPSg5GI31cYJs1ThCAQBCEBgRgBhNkORfUceM4RZdn5tjIkwM6aM95el/a7o99iCd5wdpy0v4SAAgfAI9KaRnb2TaLV5F1en9veLPTYQgAAEIJCRgMaYqSGYMTrRWkhA34kWFsurSGW+vyyNIerS2PDfJd0Y01Q0YSBQDQHfXoZ9TZdfjWnkAoE0BAgDgY4QUCO84Q3AjtRUdcXEY2ZMCOO8Guw10xT5vg3B6r7g5AQBCKwl0IsiM+uWZPhAAAIQ6ACBuosoUSYbEGaiwCoCyXdC+11dQxBlYr+/v28aOtaM8WWqQFYIhEMg0xgzP2FmI57GhFPhWAIBCDSQQNII5+XSDay89CZ7hUy+E16RWhZ4e3s7mBKpS2MwxqQ3hPFl6VkREgJVEPAVZrfpylhFtZAHBNpFYPYwp6FPlWuvjTdv3sQ29Pv9eMsfCCTfiS6T2NnZCab4Dx48CMaW1YbMruqhOePLZjjYgUAzCThhFs0aWWmKYHvGV/0ZPhCAQKsI3E5Kc/v2bDc5xTYFgcQ7gjBLAasjQZLvREeKu7CYVb9YeqERFyf129R6cdiEDaKsCbXUVBuxuyoCW72oF3m1rDZshDCrqnrIBwIQaCUBNcJD6rbVSsgNK5TPxB/yLD1//twcHR0ZbTUmqmHFvWaufg+heeDrnLr/GqD1J16tD0IICECgYgLyZPtk2emujD6gCAsBCECgMAKTycQ07Gl8YWUnocUE0n4fNGPg69evzaNHj4yEg7aj0ci8ffu20d+p7e3txWBqPCsBXGP2vlnjMfMlRngIBEigF6BNmASBFhGgKBC4TkDekRAbotct5UxVBNJ045NnbDgcLjSp3+8bCbSFFxtwUiIzNDPT1EkgNo+dHaduZYEABBpOoGeN2TQ+nxt/8uP34UVYCEAAAnMEJMp0WKgwU4KsjSYg0bXqOyHhJW/ZqkLKw6N1VZhQr3399dfBmaauleIenGHXDaIb43UmnIFACAQmnkb0e8ZaP2FmDMLM8IEABCCQjcDvv/8eR2Sq/BgDf+YIaMyYBNrcqXhX4uD4+NhoG59Y8adMYbYi21yXVC6tuRIpKbLEWUlJF5msPGZFpkdaEIBATQToylgTeLKFAAS6SQCPWTfrPU2pJU7UHfG3336LJ/UYDodG48l0HKJHKU2Z0oRZ5SlME7/MMCHbdlFuPZE/udhvw4YyQKDTBBBmna5+Cg+BTAT6SSw1JJN9tukISJg1oLGXrjCEKoWAvh+a1ENdF+UBa4jXJjMLlTFz5JIjNuAeNy4ZAclDoIUEwi0SwizcusEyCECghQQkzBrQ2GsheYoUKoGQJ9logCh+GWq9YhcEIOBPQMJs0yvaqWGMmQnzg1UQgEDYBE5PT42myg/ZQxA2QaxrGwEJH3kIQy3X7dter3qtuhinLkM8Zg4CCwRaQmDTW5gNBlu6EbSk/BQDAhDwJEDwHATkLVP0No8XUvlYIZCWQMiiLG0Zagz3a415kzUEILCegMaArg/1OUQszD4fsgcBCEAAAqUR+PXX83YUjdF1iLneFQL37t3rSlHLKOdxGYmSJgQgUB8Beczqy52cIQABCHSIwHg8NhJlm5ubHSo1RYXAcgK1eo+Xm9WUK+OmGIqdEIBAOgIIs3ScCAUBCEAgNwF1ZZQwy50QCUCgJQQYb5m5IjVFvm83qcyZETE7AWJCwIcAwsyHFmEhAAERmLl78PwIR7pVokyTf9AQTceLUO0n0ITfwu+//x5qRZz3iw7VOuyCAAQyEcgozDLlRSQIQKAdBBBmGepRwkzR6LolCqwQMAbvca5vAePLcuEjMgTCJIAwC7NesEoEWCHQIgKvXr0yen8ZjdEWVSpFyUWgCR4zvd4iVyHLiawujIwvK4ctqUKgVgIIs1rxkzkEIFA3garyl8cMUVYVbfJpAoFvvvkmeDMDFWaIsuC/ORgIgXMCP/7ywfisCLNzbvyFAAQgUBoBiTI18JgavDTEoSeMfVcI6CHF5ubmlbPhHWpcaHhWmVcB2oRJEIBAAQQQZgVAJAkIQAACqwhImOl6EzwEspMVAmUTkDArO48i0k9+u0WkVWAaSzxmBeZAUhCAQC0EEGa1YCdTCECgSwRevnxp1BDVGLMulZuyQmAZgSZ4jwMWZafLuHIeAqUTIINSCSDMSsVL4hCAAASMGY/HsTCDBQQgcE6gCbOTBjpVPt0Yz79C/IVAKwkgzM6rlb8QgAAESiEgUaaEHzx4oA0rBDpPQJ5jraGDCNhjFjo67IMABDISQJhlBEc0CPgTaEWMflKKJjSsElvr3Kob4+bmptnZ2anTDPKGQDAE1K03GGNWGJI8VFkRpOpLmib/pOpMyQ8CEKiOgISZV1/l0ejdZnXmkRMEIACBZhNQ467S8TTNxoX1HSDQlN9DgB6zcQe+HhQRAq0hMDry1kyn3sLMbLp/hg8EIAABCKwjIFGmafLxlq0jxfWmEchjbxPGl0mUBThV/ss83IkLAQhUTsDXmRULs8qtJEMIQAACXSCgbowq57fffqsNKwQ6T2Bzc9M0oSujhFlglaXeTV3zmAVWBZgDgfIJyGNWfi7kAAEIQKCDBOQx29/fN5uuMdrB4lNkCFwj0ARRJqNfvQpu8sNfZRcrBCBQNIGw0kOYhVUfWAMBCLSEgESZujE2ZTxNS7BTjMAJNOX3oN9vYCiPA7MHcyAAgRIIIMxKgBpCktgAAQjUS0DdGPv9vqEbY731QO5hEWjC+DKJsgDHl9GNMayvMtZAYD2BT19srg80F8JGp70oijT9qkn9+fNGP3VYAkIAAm0mQNmWEFCj7vDw0Ozs7CwJwWkIdJNAE34TAXZj1BT5fm21bn69KDUEwiIQWS9hFvXMKR6zsKoQayAAgRYQOD4+jkvx6NGjeMufPASI2xYCTRBlYp38frUfyMr4skAqAjMgUDYBhFnZhEkfAu0i4PX0p11FT1+ap0+fGk1yoDV9LEJCoN0Egv49XKAfj8dGY0MvDkPZHIdiCHZAAALlEujZqX3vk8XU2r5PeMJCAAKtIjATZho/1aqSFVSYpGF3cHBQUIokA4F2EGjCeEuNDQ2MtrowjgOzCXMyEiBatwiceXZltNPpe+cxs6fdwkRpIQABCJRHQA07idYHDx6UlwkpQ6CBBJriMQsMLaIssArBHAikJbAxNbOH2SbFx0bROyfMUoRcGYSLEIAABCAgAuoCdXjIpB9iwQqBeQISZZubm/OngtvXb1e/4cAMC+6FaoHxwRwItIqAhNmpV4k83XJeaRMYAssIcB4CDSCgsWUy88mTJ9qwQgACFwQkzC52g90kv9/ADMRjFliFYA4E0hKYRtZr+Fdk7fuetcZPmBkT9iMvwwcCEIBANgJ5YulJ+3g8Nvv7+6bf7+dJirgQaB2Be/fuBV2mw8NDo99wYEaOnT2nbmWBAAQ6QECaTB6zDhSVIkIAAhAol4DGlqlhh7esXM4tSL2TRfj666+DLneg3jK6MQb9rcE4CBRPoNezkWb8SZ9yL/oqfWBCQgACEGg/AQmyQ/fEfR9vWfsrmxJ6E5AHWat3xIoi6Ler33BF2flkI4+ZT/i5sOxCAAJ1E4gi49d9xmkyPGaGDwQgAIF8BPCW5eNH7HYTyDO+bDwem93dXXPnzh2zt7dXSnfDQL1lE/etOHErCwTCJYBlhRPonfXMqfH4RNZueQQnKAQgAIFWE9CT9sPDQ4O3rNXVTOFyEMgyvmwymcSCTKJsPB7Hguz4+Dg+d3p6msOay1ElyiYur8tngzgaB2EFRkAAApkJRL2eVy9D6zRZb8NGXnc4l8ntzBY2IyJWQgACEEhNIGnYMbYsNTICdoyA7/gyCbG7d+8aba+ikoiSh/rq+SzHSms4HGaJWkWcN1VkQh4QgEA4BKTJesZTmFnrN/VjOMXFEgiERABb2kBADbvDw0O8ZW2oTMpQCgG9u8ynK+OLFy/WesWK8pipa2QphSZRCEAAAo6AzTCTfc988enU8IEABCAAAW8C8pap4Rmst8y7RESAQLEEfEXZwcHBWgMePHiwNsy6APrtnpycrAtW53W/SQPqtJS8IQCBxQSs3Vx8YcnZG39ONPmHrzDjZrGEJ6chAIHuEBiPx+bw8NA8evTI9Pv97hSckkLgCoFVh2nHl2n82DpRpocgo9Eo9+9NeQ2Hw1Vmh3Dt2xCMwAYIQCAXAb/Gwak57Q32tk5zZUlkCECgSwQ2k8KqkZTsd3E7GAyMBFkDGnhdrB7KHAiBNOPLJpOJefz48UqL5ZV++/at2d/fXxlu3UXlpd/uunABXFeDbicAO0IxATsg0HoCg8HWqTxmKqiXOBsdvdMNQ/FYIQCBbhHYTIrbZWGmcTBq4CHKkm8DWwgsJrCzs7P4wtxZCSX9nuZOzXb7/b55/fq10W8t7z1Heezu7prT09NZ+oHvjJx9fbeyQAAClRAoLpMMWim+MfSVMyIAABAASURBVGUSZsWZTUoQgAAEmkVAjbvnz58bPbkvYqxLs0qPtRBITyCNKDs8PDTj8Xhhov3+uSjb2dlZeN3n5MR55STKtPWJV3PYvsv/tVu1dRsWCECgMQQ+fTF7kJ3S5lOFOxdmURQf6ESq9c8b3CRSgQojEFZAAALFEdCkAWrcqWtVcamSEgTaR2DdxB/6Hen3tKzkGgsmcbbsetrzyqeBoiwpntpbb93BM7dq321YIACB4AlE1kuYRVE0UZnOhdnU/q6DtOuUKfPToiIcBLpCoBPl1Cxuh4eHRqKsiAZjJ6BRyM4S+Pbb1fNX6H1kEk2LAOk3lmZ82qK48+ck7u7evWuW5TMfNvD9A2efBNo7tz1ya343okuEBQIQKIfAmacwS6w4F2bGniYn2EIAAhCAwGICe3t7RoJsOBwuDsDZkgmQfJMIrPKYSSgduocci8pT1G9ME4roN9ugMWWLcFw9t+lO3HOrujjKi6Zjd8gCAQiERGBjarx+m87pNecxM+bU+HwiizvdhxdhIQCBxhM4dI1INSYRZY2vSgqQgYAm3tjf3zf7bu33+2tTkChTnGUBx+Ox0e9p0XVN9rHofNpzSlteMo0FTRvnUrjmHBw4U+U9cxsWCEAgJAJTT60UWfte9sceM2vNqfH4RJHxUoGGDwQgAIGGE9BYmJ2dHcOEHw2vSMz3JiAh9ttvvxm9Q0yrpq1XV8NVCUmYrbqu39Oi62mF36K48ozJS6bxZOp2vChMC8/tuDJJoLkNS5MIYGu7CfhqpUSLxcKsZ88HnKVFZKPodtqwhIMABCDQdAKHh4dGT/fXNUabXk7sh8AiAhJjEmfz14bDodGDivlz8/v37t2bP7y0L9Gk39OlkxcHWR58SJBJ6N25c8d0wEt2QerS5smlIw4gAIEACER9LyMutFgszM565tR4fHrRssw8EiEoBCAAgYYQUKNPjVCtDTEZMyFQCAE9jFj2vV92Xhmvmrjj119/VZBrq8TfqjTnI0iMjcdjI+/Y1taWGTqhqHPzYTq0r15M2x0qL0WFQPAEop6fE8tpq4kKFQuzjWkvPtCJNKtlVsY0mAhTFgHShUCFBJKn+/v7+xXmSlYQqJ9Av9+PBc8yS5aNIVM8rcviaabERdcODg4WnZ6dk5ft8PDQDAYDI+/Y7u6uGY/Hs+sd39nuePkpPgSCImCN0QMT4/vpxRG++HQab9P/yZRZ+uQJCQEIQKBeAknuv/9+/jaRVR6AJCxbCLSFgETXukk41O1Q4a6WWeevnps/1sOO+eNk/5tvvkl2jbxfh4eHRmPGNLOivGISYxJlOq/rs8DsQAACEAiNgK8T68afsZMsFmaDva34wKNMm6PRO8SZBzCCQgACzSTw7t272PBFDdD4An8gkJ1AsDHVhbHvPGarDNRvQpOC7OzsxMF0rHjD4TA+XvRHomyRqFLc+QlDFEYiTGPG5GHT8aL0ODcj4NuOm0VkBwIQKIWAl05KtFgszC7M8ftRbxqvDA0fCEAAAg0mQMOwwZWH6V4E1G13XbfCJEGJN3nWrLVGDzFWiTLFOT091ebaOi/Krl3kxDoCgjpeHogrEIBAlQRGR+/6nvnpNxxHmRdm8YnUf/684Ztp6qQJCAEIQCAUAvfu3YtNefXqVbzlDwTaTEBCS16vssr4/n38qp5ryW9ubl47x4nUBF6kDklACJRFgHQ/E/DVSBczMiqBz8LMmjc6kXadWoswSwuLcBCAQGMJqMEocaYuVZPJpLHlwPBuEPjqq69yFXTR1Pi5ErwSWV61K6fiQ/3O4p2LP/zWLkCs3+im9Hx9MEJAAAJVETiLrNeTpmhudvzPwszYmRstleGemaZKM7xAWAQBCEDAPHv2LKagSQiWdcWKA/AHAjUTSMZ7ZTFDnrI88bPkSZxcBPRAfdel4Nd+cxFYIACB8ghEkfVyXjlnlx6wxAbNhJm1ZnbSpPhEkfHK1PCBAASWEOB06ATUvUueBE1coFniQrcX+7pLQN/VLOJK8YbDYenglM+iTPTbWnSec0sJqPvitrvq1XZz4VkgAIGSCUTW+GmkqT2f/tkYMxNmvbn+je782sVG0e21gQgAAQhAoCUE1J1RnrPDw0Nz9+5d0zjPWUvqgWKsJyDP1/pQn0OoG6Em8Ph8pry9fr+/MPHJZMJvaiGZaydP3Zk9t65+6ZsLwAIBCNRFIFp8o1tmzpwGmwmzs7n+jcvizZ+PbLQ9f8w+BCAAgbYT0Ex1EmcnJyexOFNjsu1lpnzNIyCPmb6naS1X2H6/nzb4ynDrLiofCcGr4fSgQ7+rq+c5vkRAXRfvujPHbmWBAAQCJRD1Ii/nVS+KJklRZsJsY+PsJDmZassYs1SYCAQBCLSLgMSZ3t2kUu3u7pqXL19qlxUCQRHQ9/To6MhICC0zTNfkKdvf318WpJTzOzs7C9Olm/BCLMlJdV0UuFkDLrnQwS1FhkDQBKy1214G3vhTnvA4ykyYuaPZSbefZqnm8VoaSwgDAQhAoEICeueSGrTKUo1aNSj1xF/HIazj8dhEUWTwQIRQG/XZcO/ePfP27Vuj8ZH7+/tmZ2cnXrUv0aYHDDvuXNUWPnr0aGGW+r7qt7TwYndPqm02cMVX10Xtu10WCECgfAK5ctj0in1qZg9cZsJssLelH7xWk/aT4QVqaZMmHAQgAIGgCfT7faNGr8bzaCr9u3fvBuM9e/NGPZ6MkY1BQ8S4SghIiEmc6WGCVu1LtC3qUliFQRKDy76b+i1p9tPJZFKFKaHnoR+yui4ehm4o9kEAAucERj/9sX2+l/rv6WAQa7A4wkyYxUdzfRzj4zV/zs42fDNfkyKXyyZA+hCAQLEEhsNhLNCUqhrAd+7cKUygyQv39OlTMxgMjE9D9fj42Mirt7m5KbNYIRAcAT3QWGaUvr/6zi+73pHzdF3sSEVTzJYR8B3qNTfxh0hcFmZz0zXq4ro1mhr+1zd8IACBKwQ6d9i/8J7JE6HCJwJNjcvxeKxTXqviqEuXRN7QCb/Dw0Ozm3I8mxq14/HYaIyRV6YEhkCFBPQbkdeuwiybktWpM/SxWw/cqn23YYEABBpDwNq+j63RlckXLwszY736DkQ9u+2TOWEhAAEItJmAGpvq3qjuYuqudXh4Lqi2trZiYSWx9eLFC6PzYyeetGpf53RN4isJq/P7+/tGaSlNcdOxxNqyCUeUntLp9/vmwYMHitLilaI1nYAeZOi72vRyFGi/2mB3XXrP3coCAQg0kMA0sn0fs+10qi7LsyiXhJmNjG4KJu3H8i6ztKgIBwEIdIjAzs5OPOHCu3fvjCZZkKBS8SW25MmSJ00iTKv2dU7X1HVRYRVHYkzTmCstNV51rIas0lGYRMBJiGlVWlp1XWJOW1YIhExAXW31XVW322DtrM4wdV2UKPNqh1VnHjlBAAJpCERRtJ0mXBLGWnPpN39ZmF3p52jWfCLeZbaGEJchAIEuE1DDU921JLDUAJVQ0yqRpWOt2teq85olT2EVR3GvspMgU1jFUxgJOQk6rdrXuB2l0e/3r0blGAJBEtB3Vd9ZfXeDNLB8o05dFo/dStdFB6GrC+VuD4HI8x1mzsm1XJhtTHuXLq7F5OmuW5seASAAAQi0nIAElxqj8oRp1b5Wn2IrnrxnatBK0GnV/nA4NErfJy3CQiAEAvru6qGDHj6EYE9FNqjNJS8ZXRcrAk42ECibgO87zDY2znQfmJnVm+1p54tPly7q1Jp1czR6t2QCkDUxuQwBCEAAAhCAAAQuCOgBhR44SKCpe+/F6bZuXrqCSZT5trtcNBYIQCBEAqOjWBP56aJTc+kecEmYDfa25FK/FMCs+2wa+swYPrURIGMIQAACEGgVAQm0r7/+ulVlmiuM2lnqurjvzmnfbVggAIFWEPjzxrZnOS69w0xxLwkznTBR5HWjmH7iXWYxN/5AAAKtJUDBIAABCBRAQA++d106dF10EFgg0DYCZ57vMIui6OQqg+vC7Mq0jVcjXDtmnNk1JJyAAAQgAAEIeBIgeLsJJF0XrzXE2l1sSgeB7hCIrPXymNnp9P1VOteE2dVpG69GuHbci766do4TEIAABCAAAQhAICOB9++vtVcyphREtIC6LgbBAyMg0EoCzgPmJ8ysufag5pow6zFlvuEDAQhAAAIQgEB9BE5PT+vLvLic1XVRE3zQdbE4pqTUBAIdtTHDVPnrhZkxvWuBVvKlK+NKPFyEAAQgAAEIQKBzBI5diSXK/NpULhILBCDQTAJ5p8pXqXv6c2nNMmX+0bsuzMx4CRMHEIAABCAAAQhAYAEBdV3cc+db4fZz5WCBAATWEChiqnxlcU2YDTJMmX92xsyMgskKgfwESAECEIAABBpKgK6LDa04zIZAbgL+U+VPBoP4NWWXsr4mzOKr1ryJtyn/RNbiMUvJimAQgAAEaieAARCAQNEExi5Bui46CCwQ6CKBaW/qNfFHFEV6kHMN1WJhZuzCwNdiX5yIIoMwM3wg0AkCs3vDZDLpRIEpJAQgkI1Ah2Kp66LeT0bXxQ5VOkWFwDyByBovLWSXvJ5soTCzkfFrcfV6Xxs+EIAABCAAAQhAoDsE1FaSIHvenSIHV1IMgkAQBCJPLbTs9WQLhVlv2vObRcjzhWpBEMQICEAAAhCAAAQgkI1A0nVR22wpEAsCEGgIgfVm+s7I2FsyC35vYVY3/vQTZsZsjkbvNhemxUkIQAACEIAABCDQHgKPXVHkKaProgPBAoGuExgdxRrITwf9sVhrLRRmg/OZGf1uOH+54TXoreuVGEL5sQECEIAABCAQIoHJZBKkWc4oCbLnbssCAQhA4JyA/4yMp4MFMzIqsYXCTBdMFHl5zabGbzaSOA/+QAACbSdA+SAAAQi0gYC6LEqUaduG8lAGCECgIAIZZmRcqrGWC7Mls4UsLUMvYgKQpXC4AAEIQAAC5REgZQiUSuCpS12iLEg3nrONBQIQqJFAZCOvXoPLZmRUEZYKs2gaLVVzinh19TXqanyOIQABCEAAAhCAQEAEJMQkyIaxTfyBAAQgsIBA1Iu+WnB66allMzIqwlJhZpbMFqJIC9fIes3fvzANTkIAAhCAAAQgAIH6CajLokSZtvVbgwWdIUBBm0fAWrvjY/WyGRmVxnJh9sUnPSlSmLTr5ujoHeIsLS3CQaDhBE5PTxteAsyHAAQgsJDAC3dWosy3HeSisUAAAl0iMPrpD69ujDGbJTMy6tpSYTY4n5nR66Y0/bSxRDEqK1YIQKAFBGb3BIRZC2qTIkAAAvME9LRJguxg/iT7EIAABJYROOtN/ZxSNjoZLJmRUXksFWa6aKz9Nd6m/BP1rL9qTJk2wSCwlgABIAABCEAAAtkIqMviXRdVW7dhgQAEILCeQM9YT6fU9PdVqa4UZjYyXhOAmF6PmRkNHwhAoM0EKBsEINA6AnRdbF2VUiAIVEMg8tQ+1pqV2mq1MLPRrNuSSfOxFo9ZGk6EgQDqX7/NAAAQAElEQVQEIAABCCwn0Pkrk8mkCgZ0XayCMnlAoMUErKf26ZneSq98bxWrjY2zlapuQVwmAFkAhVMQgAAEIAABCARF4I2zpuNdFx0BFghAIDOB0d/+qfFlm14J3Phz5VOnlcJssLelyHqilDrPs7MNvGapaREQAhCAAAQgAIGKCajrotoqauNUnDXZQaBjBFpc3LMvPuk+4lPC0wtttTTOSmEWx7LGawIQ/0FwcS78gQAEmkFg9qCGWRmbUWFYCQEIzAjo/rXnjph10UFggQAE8hHw1TxRFK3tibhemBnr90TJcxBcPiS1xSZjCHSVgBo2cdkRZjEG/kAAAs0gkHRdPG6GuVgJAQiETsB34o/p2XSts2utMJuaaOUgtWvQPAfBXYvPCQhA4IIAGwhAAAIQKIAAXRcLgEgSEIDAZQK+E3/YIjxmTAByuRI4ggAEINAqAhQGAu0lIA//wBWProsOAgsEIFAcgdFPf2h8mdfEH2k01VqP2SDDBCDTTxueL1srDhQpQQACEIAABCAQFoEarEm6Lh7WkDdZQgACLSdw1ptqRkafUk4uNNXKOGuFWRzbcwKQqGelIuOo/IEABNpLgHFm7a1bSgaBBhPQ2Hg9INa2wcXAdE8CBIdAZQR8J/4w1uph0Vr7UgkzG1m/cWam983anAkAAQg0lcCssYMwa2oVYjcEwiaQ896i7ovqxhh2IbEOAhBoIIFzk30n/rDWrJ2R0bhPKmHWm/ZSJebSO18iuz0avfPqd3kekb8QgAAEIAABCHSdQA5hJkHm+TC567QpPwQg4EvAWiuvfOpoPdNLdV/qpUrxxp9+wkyJ/uUG3RnFoSErZkIAAhCAAARaQEDCrAXFoAgQgECoBEY/f/QSZXE5/kinpVIJs8Helm50s+5LcQZr/kzNFGG2hhGXIdAxAhQXAhCAQNkENCCfHjtlUyZ9CHSYwLTnqXFsdDIYxFpqLbVUwixOxdq1L0WLw138iSLjryYNHwhAoAEE9KAmNjNHd6M4Pn8gUDwBUoSAYXp8wwcCECiLQGQjL40TRTZ1z8PUwiyaRqn6Rs4gRBETgMxgsAOBVhFAmLWqOikMBFpH4IkrUbnizGXAAgEIdJRAZLw0ztSY1M6t1MLMfHHmJ8yM2RwdvVOXgo7WGsWGAAQgAAEIQKAmAs9cvhJobsMCgWYSwOrwCIx++kNDtby6S/d6Z8V7zAZ7WxpjNntSngbV9NOGl6svTZqEgQAEaifwPrHg/fvZbnKKLQQgAIFQCAydIftuZYEABCBQDIGNqYSZT1qnTkMVL8xiCzxfNG02Frn64pT4AwEINJfA7AENY8yaW4lYDoGOEHjQkXJSTAhAoAIC1ho/p5PnHB3puzIaY3xfNB0Z42e84QOBggiQDAQgAAEINJZAgQ99+o2FgOEQgEB4BDzHlzkh5zUUzEuYeb9o2pg+48zC+05hEQQgUAwBUoEABMohUKAw0zCMcowkVQhAoFMERn/7px70aE1d7p7ppe7GqER7+pN6vRG/HG3WjSlNPMaZpaFEGAg0isCsoTOZTBplOMZCoIEEMDkfgZf5ohMbAhCAwDmBsy8++Y4vM4Pvb5bnMRvsbZ2aKPJSflHPehfivPj8hQAEIAABCEAAApkJvHExD93KspYAASAAgXUEnDfr3row89ejKPISZYrr8tAm/WrPpqnn4o9TjaJv4y1/IAABCEAAAhCAQPkE5Mp/6rLhwbCDwAKBYAg03ZBe9LVPEaa+mskl7i3Meqbnq/76o9G7TZcXCwQg0A4CavTEJaErY4yBPxCAQL0ETl32aps8dts7F6umyne7LBCAAATyE4jHl1m/XoAZNJPpeZuaZZzZ/9rwcv1521RvBHKHAAQgAAEIQKBaAnpA9MJluetWiTFtn7t9nXcbFghAAAIFEvjyk/dM877jy2SttzAbZBhnxvvMhJoVAnkIBBVXT6djgwqcOS1Ojz8QgAAElhDQfeeqV+zAhdU5XXO7LBCAAATKIWA931+WZXyZLPcWZorkO84sMsZbZRo+EIBAqARmjSCEWahVlNEuokEgTALyhuEVC7NusAoC3SDg+f6yLOPLBDKTMOtlGWd29K6vDFkhAIHGE0CYXanCw8ND8/Tp03idTCZXrhZ7WGVexVpOahA4J5DhL16xDNCIAgEIFENg9NMfmkjIS8dk0EqxsZmEmckyzuzPHuPMYuT8gUDjCZwmJcBjdk7i1atXZjgcxuubN5qh+/x8GX8fP34c5zN0+ZWRPmlCoG4CVx5ulPuko+7Ckn9ZBEgXAsUR2JhKmHmll2V8mTLo6Y/vmmWcWRSZHcMHAhCAQAsJbG9vz0p16Lxns4OCd8bjsUnEcL/fN323FpwFyUEAAhCAAAQgMEfAWrPEuWQWfqIM7y9LEsokzBTZ2ukrbVOvUfRN6rAEhAAEQiYwe4J95cl2yDaXats333y+vR0fHxsJqDIyHAwGs2R3dnZm++xAAAIQgAAEIFASAf/xZX4aac7szMKsN+2dzKWTZndz9PNHWhJpSNUchuwhAAE/AhJJWpNYe3t7pkjRKi/ZwImyJM3NzU3z5MmTJDu2EIAABCAAAQiUQOBCu2z6JN27MR37hJ8P25s/8Nm/6Dt56hNn2psizHyAERYC4RKY/fYlGjKY2booo9HIJF0LxeTu3bvmxQu9ZilfUSXGdnd3zeHh4SwhibIkr9lJdiAAAQhAAAIQKJSAjab3PBM8Hext+TqvZllkFmZxCtZ6ueqiqPe5v0+cAH8gAIGGEjhN7JYISfa7vJVQOjo6uiTODg4OzJ07d8zLly+90ZycnBhN9KH42k8SkChTuskx21UEuAYBCEAAAhDITiDq9b72im3tr17hrwTOJcxsZE6Mz8fandHo3aZPFMJCAAIQaAoBTQLy+vVrI5GW2CyP1/7+fizQ1B1RIm08Hs8m8VA4iVuFOz4+jsWYPGTyuD1//lyXZ+uzZ8/MkNkYZzzYgUAQBDACAhBoJYHR3/7Zt067+BTORtGxT/irYXMJs15veng1wXXH0/+1cW9dGK5DAALBE2ACkCVVJFH29u3ba2PAJpOJOTw8NPtOpEl4bW1tmSiK4lX78oxpbJrE2Hg8vpT6zs6OOTk5MXjKLmHhAAIQgEBnCFDQGgh8+WnHN9de7+zyf+CeCeQSZoO9rVOX38St6ZcNQ3fG9LQICYFQCfyeGPb777Pd5BRbR2DoPFsSaBJi/QzT2muCDwkyeeC0fv21X28KZwILBCAAAQhAAAIZCVhr/ISZjU6cNvLTRebyJ5cwi5PyHWdmzD0z+7ADAQg0lIAeysSmy5MT7/DnGgEJMk0KIoEmcSVv2L1798z29rbZ3Nychdd+34k3XTs4ODAaq5bEkTibBWQHAh0gMJlM5kt56WD+AvsQgAAESiXgOU2+MdNc48tUltzCLLK9YyXksTJtvgcsghZAgCTKIHCSJHqlEZWcZnuFgATWo0ePYtH122+/mXfv3hnrHsdp1b6EmASZxpFJoEmsXUmCQwhAAAIQgAAEKiBwMU1+3yerDJroWvK9a2d8T9z4Uw202dPzNNGZNj8NJcJAIGgC+t3HBp6cnMTbrv+h/BCAAAQgAAEItINApmnyv785zlv63MJsoHFmUeTVMnOK8tu8hhMfAhColYB+8/EDmclkYk5PT2s1hswh0BECFBMCEIAABKog0Ov5zYmRc5r8pEi5hZkSsnbq9T4zE9nt0dE7L/eg8mGFAASCIiBxFhv06pXfLSCOxB8IQAACEAiQACZBoNsENE2+sXbbh0LeafKTvAoRZpmmzf+zdy8xgi0EINBIArNBrlend29kaTAaAhCAAAQgAIFqCIScSw3T5Cc4eslOnu3gvDujV7/KaKNHd8Y80IkLgfoJzH7zx8fH9VuDBRCAAAQgAAEIQCAvgSh64JVEAdPkJ/kVIsyUmD2bzp6e63jtau3OaPTu83zRayM0IgBGQqBLBCTM4sFlGmOG16xLVU9ZIQABCEAAAu0jMDp6t2mdRvEpmfUd0rUi8cKEWc/01EhbkdX1S9P/tUF3xutYOAOBNQSCuvwysYZxZgkJthCAAAQgAAEINJLA1F+b9G5Mj4sqa6+ohAbnU0TGT8/Tphn1LMIsLSzCQSBMArOb0eHhIbMzhllH2awiFgRqIvD+/fv5nC8dzF9gHwIQgEDRBKw1vtpkMtjbmk2GZnJ+ChNmsR3Wzp6ex8fr/kTRNyO6M66jxHUIhExAnvJTGajujL/+6tejWfFYIQCB7hJYVPJ3797Nn750MH+BfQhAAAKFE4iM1zT5kTFqB5miPoUKs8j2Zk/PUxq4af5yw2s6ypTpEgwCEKiOwIskq+fPnye7bCEAAQhAAAIhEMAGCKQi8J9//yBvmd/8F9PIzym1xpLemutel7N0Z5z2rN/MJ14WERgCEKiAgNRY7DUbj8dm7NYK8iQLCEAAAhCAAAQgUBgBJ4okzHzSO73QPsYYn2jLwzobll/MdMXaVz7xnAvQF4JP8oSFAATKJyBRNvvdP336tPwcyQECEIAABCAAAQgUSSAyXq/ychrGt6fgWmsLF2ZTE/kauTn6+ePOWksJUAsBMoVASgKHSbix85hpTY7ZQgACEIAABCAAgZAJXGgRr26MZ9bMHkoXVbbChdnGxtnYGacn6G6TbrHRFK9ZOlSEgkCoBPS71xrb5+k1i+PwBwIQgAAEIAABCNRBwEZ23zffjY+x5vGNtjJ84cJssLd1aqLIb9rIKGKc2cpq4iIEGkFg1odRHjOtjbAaIztCgGJCAAIQgAAElhDwnI3RWPtqMHCaZ0lyWU8XLsxkSPSn9Z2hhO6MAscKgWYTkMds9tvHa9bsysR6CEAgAwGiQAACjSNw0Y2x72O4jSLfoVupki9FmJkvzmTsaSoLLgIxO+MFCDYQaDaBoTM//u3LY/by5UynudMsEIAABNYT4AXT6xkRotsEKH2xBLJ0Y+x9iLVOsYa41EoRZoMM3RkjY+6NRu+8Bt05+1kgAIGwCEycObP3mh0cHJjT01N3igUCEIBAOgJX7hncQNJhIxQEIJCVgOdsjGV1Y5T5pQgzJezfndFsmr/c2DZ8IACBphPQe80k0GJRRpfGplcn9kMAAhCAAATaSSDLS6XL6sYowqUJs2zdGc0jGcUKgdIIkHAVBPSE+3GS0fPnz426NSbHbCEAAQhAAAIQgEAIBJwQ8p4ZvqxujOLh7NGm+DVbd0a7Q3fG4uuCFCFQA4Fjl6cmA3EbYwaDQew9iw868IciQgACEIAABCAQNoHR0btNExm/meFtObMxJqRKE2bKIEt3xun/2vBWrsqLFQIQCI7AwFl06lYzmUwMXRpFghUChREgIQhAAAIQyENg6q85yuzGqKKUKsyydGeMbvBOM1UMKwRaQGDiyjB7txldGh0NFghAAAKNIoCxEGgxgchbc5yW2Y1RpEsVZnF3RufyU0apV2vpzpgaFgEhEDyB587CY7fGk6vaIgAAEABJREFUy97eXuw9iw/4AwEIQAACEIAABGogMPrbP/vWaQ6frCNjjgeDrbgnkE88n7ClCjMZEtneobY+6/QvvX2f8ISFAASCJqAujfKexePMBgMdBm0vxkEAAhCAAAQg0GYCX37a8S3emTWvfOP4hu/5RvANP/j+piYA8FKX0UbvW998AgyPSRCAwDkB/f5namw8HpvHj2eTNp6H4C8EIAABCEAAAhCoiICNIt+Z4Cf/cf/WrAdQWWaWLsxiw619GW/T/nGuxdHPH72VbNrkCQeB9hBoTEnGztKZGtN4s5cv/W4LLj4LBCDQAQKTyWS+lJcO5i+wDwEIQCALgdFPf2wba7d94kbGqB1jyv5UIswi2/NWmNPeFGFWdu2TPgSqJfDcZTe7FxwcHJiTkxN3iiV4AhgIAQhAAAIQaAkB25seeBdlGlXyNLnnbViGCBfdGb2eekXG28WYwTKiQAACFRNQl8b4XnB6emqYDKRi+mQHgYAJYBoEIACBSghE5hvPfCYXWsYzmn/wSoSZzLJTz+6MxmzSnVHkWCHQKgKnrjS7btXWTCYTs7u7G08K4s6xQAACEIAABMokQNodJ/Cff/9wzyHouzX1Yo23hkmd9tWAlQmz3o3p4dXM1x3bDfNkXRiuQwACjSMwcRbvuTVeJM7kOYsP+AMBCEAAAhCAAARKIuCEj4SZV+q9nq+G8Ur+UmBn36Xj0g4Ge1sTE0Vjrww0Ccjo3aZXHAJDAAJNIKB7wWwykPF4bJhGvwnVho0QgAAEIACBZhLQu8tMZB74WB857RJrGJ9IOcJWJsxko7VT7/n/p7d6B4rLWj8BLIBAwQSeu/SeujVeDg8PzdOns8P4HH8gAAEIQAACEIBAIQQyvLts6juzfE5Deznje0W/cAWe+kSKop7vAD2f5AkLAQjUS2Dosn/h1ngZDoeIs5gEfyAAAQhAAAIQKJKANcZ7iFTvw9lsNukibVmWVqXCzLkCT421fl4zdWfknWbL6o/zEGgDAXnFZ9PQDodDxFkbajXoMmAcBCAAAQh0icDFhIJek35ExhwOBlteDqW8TCsVZjI2sr1DbX1WG03v+YQnLAQg0DgC+87i2VOpIeLM4WCBQDcJTCaT+YJfOpi/EPw+BkIAAsEQsJFVO8PPnoreXTZvVG/+oIr9i/cA+KnPKHowYhKQKqqHPCBQJwG94+wkMQBxlpBgCwEIQAACEFhMgLPrCWSZ9MOlWtm7y1xes6VyYaac7dTOxpToOMW6Of1Lz1/ppkiYIBCAQDAE9MBG7zhDnAVTJRgCAQhAAAIQaDiBDJN+ZNAqhUDqFZKKZyK9G9Pnq6Ncvxpt9L69fpYzEIBAywggzlpWoRQHAhCAAAQgUCcBm2XSjxvT2fCKKm2vRZgN9rZOTRSNvQrKJCBeuAicggBBQiVw6gzDc+YgsEAAAhCAAAQgkJ1Alkk/NFGh0yq1jG+tRZgJb3RmvF9YZJkEROhYIdAFAok4mz2xGg6H5vHj2TupG8MAQyEAAQhAAAIQqIeAzTDpx9RE3hMVFlW62oQZk4AUVYWkA4HWEpA423Olm02l//z5c7O3t2dOT0/daRYIQOCCABsIQAACELhCIOukH/9x/9bsofCVJEs/rE2YqWQZBtZtTm/19M4jRWeFAAS6QUAT/8w87MfHx2Z3d9dMJpNulJ5SQgACEAiCAEZAoGEEskz6YezsYXAdpe3VkWmSZ6ZJQEz0KInPFgIQ6AyBoSvpTJydnJwgzhwQFghAAAIQgECrCBRYmEyTfvSmtXVjVNFrFWaDLJOAGLN5MZBP9rNCAALdIXBJnMljJs+ZRFp3EFBSCLSfwJWuyqftLzElhAAEiibwn3//cM+l2Xdr+sXaV06b1Nodp1ZhJlKZJgHZME8Ut0ErpkIAAsUQkDgbuKTixprE2d27d82LF76vRnQpsEAAAkESQJgFWS0YBYFGEdjo+fewm9Y46UcCt3ZhlmkSEE2d/9Mf20kh2EIAAiLQmVXdDDSd/uyp1sHBgXn6dNbTsTMgKCgEIAABCEAAApcJaNIP67TC5bNrjyZ1TvqRWFe7MJMhGSYBMbZ3pgkBFJ0VAhDoHoETV+RL4kzT6TNjo6NS9kL6EIAABCAAgYAJ2C8+qXeNl4XW+L/GyyuDlIGDEGYXk4DEXZNS2m1MFD0Yjd5tGj4QgEBXCchjdtcV/tit8aIZG9W1UV0c4xP8gQAEGkkAoyEAAQhkISBvmYnMt75xe72zsW+cMsIHIcwGe1unxnpPT8nU+WV8I0gTAs0ioAc6etfZrB+jRJkmBZFIa1ZRsBYCEIAABCokQFZtJHA+Rb6X4yYy5tBpET3srZ1IEMJMFCLbmz311nGaNWLq/DSYCAOBLhBQt4XHrqASakbiTN0aGXfmiLBAAAIQgAAEOkLAGuM/QWDvbPZwt3hMfin2/IKXFzqeBCSKfN2ITJ1fXpWQMgSaRuC5M1hdG2dPvYbDoZFAm0wm7hILBCAAAQhAAAJtJTD65YPmn/CaIj9y2iMUb5nqJRhhJmOYOl8UmrFiJQQCJSAFpklBxol96tK4u7treN9ZQoQtBCAAAQhAoIUEouiBb6mm/kOpfLPwCh+UMIu9ZsbEXZFM2o+1O7xwOi0swkGgUQSyGpuIs1nXBHnM7t69y5T6WYkSDwIVEuA9ZhXCJisItISAtECWKfIffndLr+AJhkJQwkxUMk2dv5GhP6kyY4UABNpMYOgKp4lBJNTcrjHDIV0bYxD8mSPAbmgEEGah1Qj2QCB8Ajay6sboZag1ZvYA1ytiiYGDE2aZps6X1+xv//TqU1oiU5KGAATCIXDsTFHXRr33zO0ak3RtHI/H8TF/IAABCJROgAwgAIHSCFxMke/djTGUKfLnwQQnzAZ7mabON/aL/3swXzD2IQABCFwQkMdMk4LMnoypa6PGnTFr4wUhNhCAAAQg0HgCXS2A/eLT0LfsUUBT5M/bHpwwk3HRxvS5tl5rFD0Yjd55vbfAK30CQwACTSegG/e1ro137twxk8mk6WXDfghAAAIQgEDnCGT1lpmApsifr7QghZnzmk1MFF30M5o3d+X+5vRW72BlCC5CAAJdJ5B0bXyZgJAokzjDe5YQYQsBCEAAAhBoCIEv//TuwhgF6i0T8Z7+hLhmmTo/MtEjvGYh1mYDbMLELhGYuMJqkPBjt50tw+HQ7O7uGgm12Ul2IAABCEAAAhAIloA1Vv+f+9k3jWYPZ/0ilh86WGEWT50fRWNPBHjNPIERHAIdJvDclf2OWyXU3MaY8Xhs7t69a16+LOeeHWfCHwhAAAIQgAAEchMY/fJh3yXiN/mfjU5ijeEihrgEK8wEC6+ZKLBCAAIlEpAokzibTQyiqbr39/fNYDDAe1YieJIujQAJQwACEOgEAWv8X5dlI/siZDhBC7MLRauGkw9D5zXbuOcTgbAQgEDnCQwdAQm02f3m8PAw7tqI98yRYYEABCBwiQAHEKiXQCZvmTGTh9/dOqzX8tW5By3MZLo1/so2yqCglRcrBCDQaQISZRJnM+/ZZDIx+857tsvYs05/MSh8dQT0m5vLbTK3zy4EINA1AivKm8lbZszs//cVSdd6KXhh1utNpWxPPSn1/3re79QzGsEhAAEImKExRgJt1igcj8fmzp07hpkbHRkWCEAAAhCAQI0E2uotE9Lghdlgb+vUTjN4zaLIe/pMAalgJQsIQCB8AhJlEmeXnq4Nh8NYoE0mk/BLgIUQgAAEIACBFhJoq7dMVRW8MIuNvDF97rZ+XjNrd0Y/f9xx8Vgg0EECFLkgAkOXjgTaTIlNJpNYnD1+/Nho311ngQAEIAABCECgAgJZvWW93tm4AvNyZ9EIYZbVa2Y3/GdryU2UBCAAgbYRmLgCSZxd8p49f/6cyUEcGBYIQAACEIBAVQSyecvsS6cl9H95VWZmzqcRwkyl6+E1EwZWCECgPgKJ92z2krPJZBJPDsLU+vVVCjm3nwAlhAAEICACGb1l5mK+CiUR/NoYYeaUbqaxZnjNgv8OYiAEmkRg4ozdd+vArdp3G2MODw/j7o2aHETvQYtP8gcCEIAABJpCADsbQCCLtywy5tBpiNn/16EXszHCTCDxmokCKwQgEACBQ2fDrlsvvahyOByau3fvGt595siwQAACEIAABAoikNVbZnpnl4YhFGROxmTWR2uUMHOKF6/Z+jolBAQgUA0BPYE7cFlp/Jn23a4xSfdGCTTtxyf5AwEIQAACEIBAZgJd8JYJTqOEWWwwY82EIagVYyDQcQISZRJnA8dB+25jzMnJSdy9kfFnMQ7+QCAVgSsPM2a/p1SRCQQBCLSSQFe8Zaq8xgkzec2MtbPB9ypEmtX27ChNOMJAAAJBEmiCUQu7N2r82e7urtH4syYUAhshAAEIQAACIRHoirdMzBsnzGR0tBG/10y7Pmv/r7980KB9nziEhQAEIOBDQE/4D1wEedBmD5DkBRgOh7EHjfFnjk6wC4ZBAAIQgEBIBLrkLRP3Rgoz5zWbOK/ZpUH3Ksy6NTK812wdI65DAAKFEJBA04OgS90bJ5OJ2d/fjwXaeDwuJCMSgQAEGkYAcyEAgdQEuuQtE5RGCjMZ7rxmQ7c9davP4rxm7w98IhAWAhCAQA4Chy6uvGfXBJq6NzL+zNFhgQAEIACBwgm0IcGuectUZ40VZs5rlmmGxshET0ajd5sqPCsEIACBighIoGl6/UvT9h4enr//DIFWUS2QDQQgAAEINIZA17xlqpiGCTOZ/HnN9F4zYzant3p4zT5jZA8CEKiGwMRlI0+/PGiz8WfunEGgiQIrBCAAAQhA4JzA6JePT9xe361+S8PeW3a1cL2rJ5p0nMNr9givWZNqumJbyQ4C5RKQQNt3WSDQHAQWCEAAAhCAwDyB0d/+2bfG6v/J+dNr9yNjDp020P+xa8OGGqDRwkxQ8ZqJAisEINA0As5e/eeh/3gk0C7NBDLvQXPhWCAAAQhAAALdIfDlnw9cYX29Zaem4d4yV2bTeGHmlHHWsWaPpMgFgRUCEIBAjQQk0DT+TOs1gVajXWTdfAKNK8H79+/nbb50MH+BfQhAoJ0E1DZ33rKhb+mssS+cJtD/p75RgwrfeGEmmpm9Zl+eqf+qkmCFAAQgUDcBiTKJM61120L+EKiFwLt37+bzvXQwf4H9kAhgCwSKI2C/+DTMkNqk15seZogXXJRWCDOnkDN6zab7o58/7gRXKxgEAQh0mYAEWpfLT9khAAEIQKCDBOQtM5FRN8brpV9xxhr70mmBxnvLVMRWCLO4IDemz9321K1ei90weM28iBEYAhD4/7N3dkltJNvazpS7feJENAJmACPYZgZmBmaDz+1GZgCNR2AxAuP7D5d81RHdpvEMrBmYPQJrBqYREX3hRvmtt4RkAbKR6keqn4fIQqVSZebKJ6VSvlqZq3ImMJ5Xv7GxkXNVFA8BCEAAAhAoBoGk3rKD3dV2MVqQ3orKCHOI8JUAABAASURBVDNTyhfBhVv3CJoJTwhP8ZrNRIqTIAABCEBgcQSoCQIQgEBtCETvL58l85a5+cf+BaZaGWEmxqaY5TWb25WJ10z02CAAAQhAAAIQqBcBWguBYhAI3r1OYEnvYLdZibVlo7ZXSpipUX7gW3qcazOv2cnpX4dz5eFkCEAAAhCAAAQgAAEIQODHBB54NTq91K1j5p67H1y1vGXCVDlh1nq+0nXed9W4eTbv/Kso+rI2Tx7OhQAEIAABCEAAAhCAAASSEYiisGYCa+54Dz7486p5y0SwcsJMjfLXLsl807VBszGP10xVsUEAAhCAAAQgAAEIQAACSQg0r361bHN7y1ySGXJWUdFTo+gGJrEvhdeMm04nAU6eHAlQdA0JjL+gNjY2ath8mlxnAn/99ddk8289mXyBfQhAoPwEFB4/uNCetyXeuU7r/345nzdfGc6vpDATeO//mX+tmXNrg8f/JFl8qCrZIAABCJSTAFZDoCAELi4uJi259WTyBfYhAIHyE0gYHt+5xnWSmXGlAFZZYdbaWe+FQZi747wLzwifX4r3LkZCAAIQgECJCGAqBCAAgRGBeKzt3X9Gz2d99PKW2Rh/1vPLdl5lhZk6ovHTQOHz5/7FLSQL2akq2SAAAQhAAAIQgAAElkOAWktCIDRClMDUXpW9ZeJRaWFmXrML85q9UUPn2nx4Qvj8uYhxMgQgAAEIQAACEIAABB4kkCY8vo3t575f8YMGzX1CfhkqLcyE7eD5qhYVzt2JnvD5wscGAQhAAAIQgAAEIACBTAgMA364VwkKq9zNpKcxqLwwU6MT3XTauTXX/DnJG8eV9Q+7IQABCEAAAhCAAAQgkBeBm4Afc4ccDhW8mfQ0xrUQZknD5wc3OIwXJ04jxzEIQCAJAfJAAAIQgAAEIFBDAvKWuYQBPw52m506IKuFMFNHJgyf78KjRO5WVckGAQhAIAmBtVGmtbW10S6PcxHgZAhAAAIQKBqB8Pjrx0Q2VTg8/l0etRFm8WLBEOYPBBLCUwKB3H3b8BwCEMiRwFiNIcxypEzREEhLgPwQgMDMBJIG/HA2do/H8DPXVO4TayPM1E3+0aBtj3OHzycQiFEjQQACEIAABHIm0Ov1Jmu49WTyBfYhUBcCVWinpjAGl2gGWs/G7sdVYDBrG2olzExxXwQXjmaFM3He2qD58+uJ5+xCAAIQgAAEIAABCEAAAg8QSBPww8butfqBZknC7IEezPHlg93VY+d9d94qvBvsEwhkXmqcDwEIQAACEIAABCBQVwLx2DlBwA/jVYvw+NbOW6l2wkyt99cuidfMJbxLuapkWwYB6oQABCAAAQhAAAIQWBqBpGNn37jeXprRS6y4lsIsDp8fwvyBQJzbODn9q73E/qJqCECgYAQwBwIQgAAEIACB+wSi0/4rOzr3Pcu8c526TWE0TnGqpTBTy33yQCC/ahGjymCDAAQgAAEILIAAVUAAAhAoFQGNlYML7QRG91yNwuPf5VNbYWZKPHEgkPA//0R3QfIcAhCAAAQgAAEIlJcAlkMgQwIJx8rBuSMbo9cq4Mck9doKM0FIGgjEcW8z4WODAAQgAAEIQAACEIDALQLR6eV+sLHyrYOjJz949MGfH+w2Oz84pfIv1VqYqXe99y/1OO/mnX8VRV/W5s3H+RCAAAQgAAEIQAACEKgigeEUxkT3LHPu0T87VWQyT5tqL8xaO7+ch0FIEqVxbdD8aTSlcR7mnAsBCEAAAhCAwBQCvV5v8uitJ5MvsA8BCBSTQPJ7loVaT2Ec9WbthZlANH4aHNvj3F8A3oVn0fvLZ5aXBIEFEKAKCEAAAhCAAAQgUEwCmsLoEt+zbDVJoJBigkhhFcLM4LV21i/8wLdsd+4UvHvNlMa5sZEBAhAoKgHsggAEIAABCMxJIM0URgX8mLO6yp6OMLvpWt3bLDj/4ebpPA8brvmz7tMwTx7OhQAEIAABCNSWAA2HAASqRSDpFEbvXKfuAT8m3wkIswkajcY/8ppdTByaaTe4wWH0R//pTCdzEgQgAAEIQAACEIBA3gQof0EE0kxhrPM9y6Z1D8JsgoqmNAYXkgQCcaERIqY0TsBkFwIQgAAEIAABCECg0gTSTmG0sffcMR6KBTRbaxBmd3ge7K4eO++7dw7P8pQpjbNQ4hwIQAACEIAABCAAgUoQSDyFMfjuQc3vWTbtDYAwm0LFe6Y0TsHCIQhAAAIQgAAEIAABCMQEUkxhvHCP4rF2XA7/vhFAmH1jMd6TW5UpjWMc7EAgLwKUCwEIQAACEIBACQmkm8IY3misXcJm524ywuw7iA9STGkcNH9+/Z1iOQwBCEAAAgslQGVlInBxcTFp7q0nky+wDwEILJdA0imMZnXPxthteyRNIYAwmwJldCjplEbvBvvR+8tno3J4hAAEIAABCEDgYQKlFWYPN40zIFAZAimmMDrfuN6uDIgcGoIw+wFUuVlD0iiN3kVy8/6geF6CAAQgAAEIQMAI9Ho9t7297fRoT5XwlokCGwQmCBRhV2Pb4NyrJLZoTK2xdZK8dcmDMHugp83depwwSuNa+J9/ogeK52UIQAACEIBAbQnIQ3Z0dOQ2Nzddt9ud5CBhpm3yGPsQgMCSCTCFMd8OKIAwy7eBWZSedEqjC+Hpyelfh1nYQBkQgAAEIACBKhHodDpua2vLtdvtu83S/US37OCFbSQIQKAgBKKzq1+dd/9JYg5TGGejhjCbgZPcriHhlEbv/Cu5fWeohlPyJEDZEIAABCBQCALdbjeetthqtVyv15u0qWtPJMja9ogoMwgkCBSFgMayYTDQZ3Nuk4KNoTWWnjtjDTMgzGbs9FRTGn/+52zGajgNAhAoMQFMhwAEvk9AIkxibHt7e9q0xZbl3Lbt3DYSBCBQMALh8dePZtKabfMmojDOQQxhNgesxFMafXgSnV4RQn8O1pwKAQhAAAJTCZTu4GgdmaYtdjqdSfsv7ImmLW7a460X7DkJAhAoCIHotK9gHxsJzLlgCuN81BBmc/CSG1bu2DmyjE8NbnAY/dF/Oj7ADgQgAIEHCHQ6HScPQ6/Xe+BMXoZA8QiMBNnm5qZrt9tOzyes7No+0xYNQjETVkFgSEBj1+BCe/hsvv9hEI40dp4vV73PRpjN2f8ppjS60AhRFH1J4gae00pOhwAESkzgYtL2jokzDWxfvnx5dz3O5GnsQ6AwBCTARpEW2+2pgkxTFrXxi0Nheg1DIHCfQLyuzMau9195+Ih37sPB89XjH57Ji/cIIMzuIXn4QOIpjc5tDJo/EUL/YcScAYE6E/hgjdegtWuP43R8fBwHTNCAt9frjY+zA4GiEHhAkOlNq/e1tlvv7aLYjx0QgMBtAmlC47vG9cvbpfFsFgIIs1ko3TlHblkfXOvO4dHTHz56F56dEEL/h4x4EQIQcBq4agCr64wGtE5/EmRt80DIg8YURxFhKwKBGQSZ3sdaR9Ytgr3YAAEIPEwgTWj84BxTGB9GPPUMhNlULA8fbO01P7gQ3jx85v0zvELo/3715P4rHIHArAQ4ryYEOtZODWg1sB0LNDvmRlMcEWiiwbYMAg8IsguzicAeBoEEgbIRiKcwDgbHSez2znUOdpv67kqSvfZ5EGYp3gL+0aBt2W8Nluz5LGktPBqcsd5sFlScAwEIGAF9yT0o0Lrdrp2aYaIoCEwhcH5+7rTmUZ7bdvveGrJJQdaekp1DEIBAgQlEUVi7CY2fxMoeUxiTYPuWB2H2jcXce62d9Qs/8Pole+68lmHDNX9+ZY8kCEAAArMS6NiJI4HWtf1x6nQ68Ro03SPq3bt34+PsQCArAt1uN36PbW1tOa15lMdsouye7ev7cN0e27Zd2DZT4iQIQKBABNauNDZNEhrf+cb1jsbGBWpN6UxBmKXsstbzla7CgSYpJrjBIevNkpAjDwRqT6BjBLQGTdsH2x+nrg2e9/f33ebmpnvz5o3r9Xrj19iBwLwEJL70PpIYk+jX++tOGV17rvehfjDo2D4JAkUkgE0zENC6MhvTHs5w6r1TgotD45/fe4EDcxFAmM2Fa/rJB89X2857fTlNP+EHR73Wm/32d6JfJn5QLC9BAAL1IKDrzo41VYPiW24yCbLDw8NYoGkdWrfbtdNIEJiNgN4vo+mKeh9p+uKdnHpDSZBp0/6dl3kKAQiUicDNurJ2EptDcP892LWxcJLMlcqTvjEIs/QM4xJShNBf01xe1pvFGPkHAQgkIyC32L5llUBTiGI9t6fD1Ol04ilom3jRhkD4P5XAyDu2vb0dv1+mTFe8sIyjgB4IMoNBgkAVCEysK1tL0J5e49H1swT5yDKFAMJsCpQkh1o7672kIfStvo1B8+fX9ljIhFEQgEBpCEiQHZu1Emgte7zlyej1ek7eDwk0Db5Zi2aESK7b7bqdnZ3Yu6r3h57fwdK15xL8el+1bb9nGwkCEKgKgRTrygiNn+2bAGGWIc90IfQH+6w3y7AzKKpsBLA3ewIdK3LbNg2mNc3x1mC62+26/f19t76+7lqtltNzO5dUEwLqb01VVP9vm4fsw4cPTh6zieZf2L5uCaP3kLZje65j9kCCAASqQiDNujLdNuqA0PiZvhUQZpnidC5FCH3ntd6M+5s5/iAAgUwJSJDtW4mbtt3zomkw3ul04qlr8qRVW6QZgRqnronxSTF2fHx8V4yJTtf+jbxjh7av5/ZAggAEqkbgZl3ZccJ29V7sreoakTA72aYRQJhNo5LiWGtn/cI3rvXr4kWCYri/WQJoZIEABGYm0LEzdX2SSNPgW6LNDg1Tr9dznc5tkfbhw4fhi/wvJYFutxvfc2zkGfuOGLuwxmntmN4b2o7tuY7ZA2luAmSAQAkIxKLs8dePCU0djXUTZifb9wggzL5HJsVxE2e94IK+5JKUshFWfzpLkpE8EIAABGYk0LPzNPiWQNuy/XtTHXu9XizStPbIex+vQXr37p3TcTufVFACIw+oPJ8ziLHRVMV1a07btq5tJAhAoAQE0po4ePyPYhskigoeBnFo/F5aG8h/nwDC7D6TTI4c7K4ea+5tosJCeBqd9XWDv0TZyQQBCEBgDgK678xoqqO8JfdEmsqS52x/fz8OELG1tRV7YeSNkRDQ62zLI6B+ODo6iqejSoxJlHU6nWnTFC/MykkxdmjPEWMGgQSBOhGITvuvvAvPErU5hDcHz22MmygzmR4iUDBh9pC55Xo9zXoz+zWiHb2/TPahKRcmrIUABIpDQIP0fTNn5EnTIF7CzQ59S7qn1fHx8VgIKHiEhEG32/12Enu5ERDnN2/e3OLfbredjk+pFDE2BQqHIFBXAhpbBhfaCdvfuxnbJsxOtocIIMweIpTi9dbO+kWK9WYueBdpDnAKE8g6jQDHIACBWQhIkMmjoqmOEmr3AoeMCpEgkDCQQPPex4JBQSbkZev1eqPTeExAQB5JcRRP8ZVHTI+jsPZ6fUqxXTum6fTqu3XCOG0bAAAQAElEQVTbVz/qmO2SIACBuhLQmFJjy4Ttj8e0GtsmzE+2GQggzGaAlOYUewP3vHNaZJ+kGG4+nYQaeSBQAAIVM0HqqmNt0lRHu6Q5PU71ptk5sedGHjWtT9vc3IynP2p/5FX7jphQ1lpv4tLtdp28YZqOKHYSYmInnnrt4uJiGiP1j/pjx16UEFP/6BdxiWs7RIIABOpOIIpCPKY0Dmu2zZ2CjWU1pp07IxnmIoAwmwtXspNbusdDCPrSTFLAxqD5U5QkI3kgAAEI5ESga+XKC7Nlj5u2SRC8s8epQkBeM3l92u127E2T2NAmz488QXqt2+1OWxNlRVYvSVydn5+7TqcTr9WT8BqJMDGRN0yvidt3Wi8h1nHOyYsp/trUHx/s/AvbSBCAAARuERg0rzSWTBbsw4WjA41lb5XIkzwIIMzyoDqlzPheD96fT3npwUNaoEkwkAcxcQIEILAcAhIJEgT7Vr2Emjw2Emr6Maprx6YKBYmTbrfr5AmSMJEgkVjTpn15jORhG4m2H4gUq6J4SfaOxNfIA6Z2jgTY1tZWfGNvtV9t1PnfaYX46btDPCeFmPY7lkf87YEEgbwIUG7ZCaQK9uFc72B3tV12BmWxH2G2wJ7y/h8NVvQlO3etCgby9s+r/8ydkQwQgAAEFktA1zgJtUOrVlPqJNS2bF9CQuKia/s6xx7up4uLC9ftdmNvUrvdjsP0S6htbm467308LVLPJXLkbZN4k/CRuFE+bb1ez/Vsu1968iMqT5vElurodDqxjapfdkhIyi7ZKXGpx5H4Ojw8jM+VjSrjB1Zc2GsSYR171BR4cdu0fT0e2qOO9+yRBAEIQGAmAtHp5X5woT3TyfdP6t3ESrj/StZHKC8mgDCLMSzmX2tnvecHXuIsWYVhcBz9fvUkWWZyQQACEFgagZHYkLiYFGu6HipIhYScznnQQAmbbrfrJHLkbWq3207CR0JNwkibRJE2730s5rz3saDTsXk2CSzvh2WM8klsqQ4JMW2qX3Z0Op1YUMo+icsHG+KcBJbaLbEq0SoBtu6ckwjT82PbF5MLeyRBAAIQmJtAHOzDOd2vbO68ymBj1pbGrtpnWwwBhFm+nO+V3nq+0g0u6JfQe6/NcGAtPBqc6YM2w7mcAgEIQKDIBCQ6JEzaZqQEmgSJt309SrzpOinRonO6djyVQOn1eq435zajwDLTpibZO2qj2qH2qJ0SYGqnHvX80HJ3bOvZRoIABCCQCQGNFcPjrx+tsITBPsKRxqyWn7RAAgizBcIeVXUQ33zaaaH86NA8jxvh53/O5snAuVUnQPsgUCkCEjMSYsfWKokWiRcJNXmTRoJGz3VcYkceNwmbkYBTXokcCSMrIrOk8lSuNtWhOrWpftkhL5fskuCSrdokMmWn2qH2yEblz8woCoIABCAwjcDg56+63mxMe+2hY3ah7dhYVT+aPXQqr2dMAGGWMdBZi/OPrvVFnewL2ocn0elVYtf0rDZyHgQgAIExgeLs6LopYfTBTJLY0eBBokgCSMJI20gc2fjCaZNI0rF5N+VTfm3aH+VXHapTm+qXHRJpskv2ScSZeSQIQAACiycQnfVfe+/+lbDmnmtc68emhNnJloYAwiwNvRR5Wzvr8Y36rIhEX+DBDQ7tg/fK8pMgAAEIQODHBHSdlWCad1O+H5fMq5kSoDAIQCAdgei0/yoMgn78T1JQHOxDY9QkmcmTngDCLD3DxCXYGz9VMBD74LWJ1JgYPxkhAAEIQAACEKgfgcq2OHp/+Swkj8DofHAvNTatLKASNAxhtuRO0sJK+xAldxkTqXHJPUj1EIAABCAAAQhAYLkE4mAf3ukm0okMsbHoUWuvqSniifKT6S6BZM8RZsm4ZZrrIF0wECI1ZtobFAYBCEAAAhCAAATKQyAWZSkiMLoQ3thYtF2eFlfXUoRZQfo2DgbivaKRJbFoQyFRo+hLopCo81TIuRCAAAQgAAEIQAACxSAQRWFNY0CzJlEExhDcf1/srSZdk2bVkrIkgDDLkmaKsloKBuL/UVQxLU5PUtJGWP2JMPpJyJGnaASwBwIQgAAEIACBWQisXmnsl0iUWfG9xqPrZ/ZIKggBhFlBOkJmmDjr+UZD4ixZJLAQnhJGXyTZIAABCDxEgNchAAEIlJtAdNZ/HWzsl7AVcXRwjT0T5idbDgQQZjlATVNka+eXc+9c4mAggTD6afCTFwIQgAAEIJAdAUqCQE4EUobFd2EQjhBlOXVOimIRZing5ZW1tdvs6AOTtHzL2z45/Yv5wkkBkg8CEIAABCAAAQgUlEB0dvVrmAiLP6+Zlvfo4Pnq8bz5OD9/Agiz/BknqsE+MG0X3LtEmS2Td/519Ef/qe2SIAABCEAAAhCAAAQqQCC+V9lgkFxUEYGx0O+CAguzQnNbiHEv9pr7zvukkRpdaISz6PerJwsxlkogAAEIQAACEIAABHIjoDFdSHOvMiIw5tY3WRWMMMuKZE7leP/PthWdNFIj9zgzeD9MvAgBCEAAAhCAAAQKTiC+V9mjwZmZmfTWSERgNHhFTwizgvdQS2H0G9cSZ8kiNTo3vMfZb38nDaVacEKYB4HiE8BCCEAAAhCAQFICsSh7/PWj5U86lut5G0vamDLpD/1WNWkRBBBmi6Ccsg59kHyjkV6cRV/WUppCdghAAAIQKCYBrIIABCpIIIrCWkgnypyJsh2NJSuIp3JNQpiVpEvThtG3Zm6ElZ8+RhHizFiQIAABCEAAAhCYmwAZFklAomyw0u9anUk9ZS441zJRljhegdVNWiABhNkCYaetKm0YfefDk0Hz59dp7SA/BCAAAQhAAAIQgEC+BAbNq8h796+ktQQXjg52m52k+ZeWr8YVI8xK1vkKox8G4Sip2d4N9k9Or6Kk+ckHAQhAAAIQgAAEIJAvgej0MvIuPEtay1CUrbaT5iffcgggzBbHPbOaJM5ccCnucTbYj876rzIziIIgAAEIQAACEIAABDIhEJ32XwXn9l3SvxDeHewiypLiW2Y+hNky6aeo2z+6PnQ+xT3OBqGNOEvRAYXNimEQgAAEIAABCJSVwFCUhcSerjC8V1lyUVdWcBWxG2FW0o5sKYx+unucuYA4K2nvYzYElkyA6iEAAQhAIHMCaUWZGaR7lT21R1JJCSDMStpxMjsWZ434HmeJ70uBOBNJNghAAAIQKBoB7IFAnQhkIcq8jQk1NqwTt6q1FWFW8h61D2B800BrBuLMIJAgAAEIQAACEIDAjAQKcVqGoizxWLAQIDDCIcwq8CYYirPGjjXlwrZESZ6zt39e/SdRZjJBAAIQgAAEIAABCMxNQGOv4JKvKbMKL248ZYgyg1HMNLtVCLPZWRX6zNbOL+e+0dg2IxOLMxcGHV0grAwSBCAAAQhAAAIQgECOBOIxl4290lSBKEtDr3h5EWbF65PEFsXizLmXiQtQRrtAxBcK7T+w8TIEIAABCEAAAhCAwPwE4rGWjbnmz/ktR3Cu1dpZP/92hL2yE0CYlb0H79jf2m12vH1Q7xye76ldKOILxny5OBsCeRCgTAhAAAIQgEClCMRjLBtrpWlUGISXBzbmS1MGeYtHAGFWvD5JbZHEmX1gj1IVZBeM+MKRqhAyQwACECgDAWyEAAQgsBgC8djKxlhpagsuHB08Xz1OUwZ5i0kAYVbMfkltlX1g24iz1BgpAAIQgAAEIJANAUqpPYHMRNnuarv2MCsKAGFW0Y5VsxBnosAGAQhAAAIQgAAElktgUaJsua2k9rQEEGZpCRY8P+Ks4B2EeRCAAAQgAAEIVJoAoqzS3Ztp40oizDJtc+0KQ5zVrstpMAQgAAEIQAACBSCAKCtAJ5TIBIRZiTorjakSZy64d2nKqPx9zlLBITMEIAABCEAAAhD4RiALUeZCeHPAmrJvUCu+hzCreAdPNu/FXnM/C3EWnfVfTZbLPgQgMDsBzoQABCAAgeoTiE5trJQy+qKJsncv9lYPq0+LFo4IIMxGJGry+CIDcRYGoY04q8kbhmZCAAJlJIDNEIDAEglIlAUX2qlMCEGibD9VGWQuHQGEWem6LL3BiLP0DCkBAhCAAAQgUG8CtH4aAUTZNCocm5UAwmxWUhU7D3FWsQ6lORCAAAQgAAEILJUAoiwH/DUrEmFWsw6fbC7ibJIG+xCAAAQgAAEIQCAZAURZMm7kuk0AYXabx6KeFaaerMTZyelVVJhGYQgEIAABCEAAAhBYEIHo9DIKrClbEO1qV4Mwq3b/ztS6LMSZd4P9k9P+WRR9WZupUk5aAAGqgAAEIAABCEAgLwJRFNaGosylC9JBoA/H35AAwmzIofb/h+IsvEkDwrvwLKz89BFxloYieSFQMgKYCwEIQKCGBCTKBiv9bnAOUeb4y4oAwiwrkhUo58Xe6mEYhKNUTfHhSWg++hT99vdGqnLIDAEIQAACELghwAMEikRAY5zQ7H/y3v0rjV3BhSMbe6UTdmkMIG/hCCDMCtclyzXo4PlqO7U4c24jPP76UReu5baG2iEAAQhAAAIQgMBMBGY6SWMbjXHs5FQ/QEuUHeyutq0cEgTGBBBmYxTsjAhkKs5+v3oyKpdHCEAAAhCAAAQgUFYCkY1pEGVl7b2i2P1jOxBmP+ZT21czE2ePBh+j95fPaguShkMAAhCAAAQgUHoC0R/9p8HGNNYQPGUGgZQPAYRZPlwrUeo84uwHDV4L3p2dnP51+INzeAkCEIAABCAAAQgUkkB0dvVraISPZtyabYlTcOGI6YuJ8dUiI8KsFt2cvJGxOHPhZfIShjm986+js/6r4TP+QyARATJBAAIQgAAEFkogOu2/CoPBcdpKg3MtRFlaitXPjzCrfh+nbqFdSI69XVDSFhQGoR2dXr1OWw75IQABCORHgJIhAAEIDAnYD8qvzcvVHj5L/P9iKMqancQlkLE2BBBmtenqdA1t7TY7vtHYslIubEucghscvv2z/5F7nSVGSEYIQAACECg7AewvNAHdoyyysYr9oJx2GcaFb1xvH9gYqtANxrjCEECYFaYrim9Ia+eXc7vASJz1UlkbwlPudZaKIJkhAAEIQAACEMiBQBwOv9n/FGyskrL4no2Ztls76+cpy0mcnYzlI4AwK1+fLdViu8DEFxozIp04c457nRlEEgQgAAEIQAACxSCQVTh8a008VrIxE6LMYJBmJ1BCYTZ74zgzHwJ2oYkvOFZ6FuLsE+H0jSQJAhCAAAQgAIGlEXj759V/sgiHbw2Ix0gaK9k+CQJzEUCYzYWLk0cEdMExF/2W8z7tr0FxOP2oaBEbRw3lEQIQgAAEIACBShNQ5EUXBgrOsZamoSG4/2ps1NpZT/vDdRozyFtiAgizEnfesk23C8/Fi3+vbLng3qW1JRCxMS1C8peQACZDAAIQgMByCdgPw1lEXnQuhHcHe80nGhstt0XUXmYCCLMy915BbH+x19w3YXWU1pygiI3v+5+08DZtWeSHAAQgIj+mVgAAEABJREFUAIGYAP8gAIEpBDTWOHl/eW7jl7SRF+336XD0Ym91f0o1HILAXAQQZnPh4uTvETh4vtq2i1tqceZ8eBIef/2oC+b36uI4BCAAAQhAAAJFIlAuW0ZBPrx3/0preXDh6GB3tZ22HPJDQAQQZqLAlgkBiTPvXCuDwhSx8dPJ6SW/PmUAkyIgAAEIQAACEBgSyDDIx8XwxtGIsiHZBfyvQRUIsxp08iKb2NptdnyjsWV1pl34umYiL4oICmIoSRCAAAQgAAEIpCWQVZAPs4MbRxsEUvYEEGbZM523xMqd39r55dw3rretYWnFmQuD0D457Z9F0ZdUkZLMFhIEIAABCEAAAjUkEEVhTWOJ4EI7g+YrHP5Wa2c9bVTqDEyhiKoRQJhVrUcL0h67YOnCte28T33h8i48C81HBAVJ1bdkhgAEIAABCNSPgNash2b/k8YSaVsfCIefFiH5HyCAMHsAEC8nJ9DaWe8Nw+mHN8lLGeeM151xM+oxD3YgUDwCWAQBCECgQAQ0ZgiPv34ykzZsS5dCIBx+OoLknoEAwmwGSJySjsCLvdXDMAjpIzY6txa8O2PdWbr+IDcEIACBMhPAdgjMQkDryTRmsHNTL4UILhAO30CS8ieAMMufMTUYAUVstAvbS9u9sC1VMpE3XHf229/pfwFLZQmZIQABCEAAAhAoEgGtJ4v+7H+0MUc7hV2jrEReHJHgcSEEEGYLwUwlInCwu3rsG9dZRGx0miseuN+ZsLJBAAIQgAAEIGAE4vuTNfufQghP7WnaFK+VP9htdtIWRH4ITCdw/yjC7D4TjuRIQOvOTJxlEhTEzNS6s88np38d2j4JAhCAAAQgAIGaEojOrn4NjwYfrfmpZ9PcBPnYbhF50XCSFkkAYbZI2jWp66Fm2oUuy6Ag5j3zr6PTq9eE1H+IPK9DAAIQgAAEqkUgnrp4ehmFweDYWpZ6PZkL4V3j0fVTjVWsPBIEFkoAYbZQ3FQ2SSDDoCAuuMEhIfUn6VZ+nwZCAAIQgEDNCYxC4Qfn9l0Gf2EQXtrYZN9EWer18BmYQxE1JIAwq2GnF6nJCgrig9sxm1LfjNrK0NTGTydMbTQUJAhAID0BSoAABIpKIJ66mFUofOcu/MBv25hEXjfHHwSWRQBhtizy1Dsm0NprfojXnTmXhThb846pjY4/CEAAAhAoBwGsnItAFIW16Kz/OmQ1ddHGHjYG2Wo9X+nOZQgnQyAHAgizHKBS5PwEWjvrin60pbnd8+e+n4OpjfeZcAQCEIAABCBQZgLjqIuDcJhJO0J4F4syG4NkUl6BC8G0chBAmJWjn2phpYmzC83tDoNwlFGDNbWRqI0ZwaQYCEAAAhCAwLIIxFMXM4q6qDbYWIP1ZALBVigCJRdmhWKJMRkROHi+2tZcbysui6mNTlMbT06vIi0StjJJEIAABCAAAQiUhICmLp6c9s9CllMXWU9Wkt6vn5kIs/r1eSlarLnevnG9bcZmJM4G+/ENqf/oz3/TSTOCBAEIQAACEIDAYglE9p0dmv1P3oVnWdQ8vj8Z68mywEkZORBAmOUAlSKzIdDaWe+92G1uhiynNjbCx+is/yobCykFAtkRoCQIQAACEPhGwL6rXwf7zrYjG7alTyG8OdhrPtHYIn1hlACBfAggzPLhSqkZEoinNjrXsiIzua+ICb3229PLz0xtNKIkCECgTgRoKwQKT0DfzSfvL8/tuzqbAB/OXQQbQ7zYW82qvMIzxMDyEkCYlbfvamV5a7fZ8Y3rLWt0JlMbrRwFBuGeZwaCBAEIQAACEMiOQPKS4gAfj79+8t79K3kpt3LGEZ8PbAxx6yhPIFBQAgizgnYMZt0noOkHsTgL4c39VxMdie95dkJgkETwyAQBCEAAAhDIgoC8ZNGf/Y8huwAfztlYQWMGjR2ysJEyCkagouYgzCrasVVtll1gFVL/MLjw0tqYydRG74aBQU5OL/etTBIEIAABCEAAAgsiEL2/fBbMSxZCyCo410UYBIXCP9SYYUHNoBoIZEIAYZYJxswKoaAZCRzsrh7rlzA7PbOpjd65CO+ZESVBAAIQgAAEciagMPjR6WUUvDuzqtZsyyINpy4+Xz3OojDKgMCiCSDMFk2c+jIjYL+ExVEbNV0hq0Lr4T3LihblQAACEIAABOYnMAqDH5zLbqYKUxcdf+UngDArfx/WvgWKtGTeLkVtxHtW+3cDAApDAEMgAAEI3CEQe8nO+tmGwXfuwge3o7GA/WCbyRIHxx8ElkQAYbYk8FSbLYGbqI3bzvvzrErGe5YVScqBAAQgkA8BSi0PgbGXbBAyC1vvg+9qWUNrr/mhPCSwFALfJ4Aw+z4bXikZgdbOeu/Fv1e2wiAcZWj6hmftWYY4KQoCEIAABOpEICcvmQsuHLX2VrZb9t2fM0+Kh8DCCCDMFoaaihZF4OD5ats3Glne88zhPVtU71EPBCAAAQhUhUAccbHZ/2Q/mGbmJTM2PT/w2we7q23bJ0GgIgSGzUCYDTnwv2IEWju/nGt6gwvhXYZNw3uWIUyKggAEIACBahKQl+zktH8WhhEXNzJr5SjAx/OVbmZlUhAECkQAYVagzqiiKctsU2tnXfc82/fOZRkYxOE9W2avUjcEIAABCBSZQHR29Wto9j97F55laCcBPjKESVHFJYAwK27fYFlGBEaBQYLzWS4Ojr1nb//sf4x++3sjI1MpJhkBckEAAhCAwJIJ6Lswsu/EMBjoHmJZ3ZfMEeBjyR1L9QslgDBbKG4qWxYB8571DnZXdoILL82G7MLphvA0PP76OTrrv7JySRCAQGUJ0DAIQOB7BPQdaN+Fn4J9J37vnATHL8IgvCTARwJyZCktAYRZabsOw5MQONhdPY7XnjmX1T3PnP7sy6P99vTys8IB6zkbBCAAAQhAYG4CJcug7zx99+k70EzP3Et28HxV3jcrmgSBehBAmNWjn2nlBAF5z17sNjftiyTLsPqqYSM0wseT06tIUzp0gA0CEIAABCBQNQIK7mFesqxvFC1MeMlEIeeN4otLAGFW3L7BspwJ2C9xbfOebVo1mXrPvBvsh8dfTaBd7lvZJAhAAAIQgEBlCIyCe9iPm4dZNmq0lsy+m/GSZQmWskpFoELCrFTcMbYgBPL0nnnnorea3khwkIL0NmZAAAIQgEBSApq2mEdwD7MHL5lBIEFABBBmosBWewL2C91s3rP5SW2Y9+zzCdMb5ydHDghAAAIQWDqByWmLGQf3GEdctO9gvGRL72kMKAIBhFkRegEbCkHgjvcsu8iN1jqmNxoE0swEOBECEIBAEQjkNW3R2oaXzCCQIHCXAMLsLhGe156A/XIn79mW876bMYzhvc80vfGP/tOMy6Y4CEAAAvMQ4FwIfJeApi2evL88Dxnfk0wVspZMFNggMJ0Awmw6F47WnEDsPfv3yrZ3rmUoMg0OYuURvdEgkCAAAQhAoFgEFFE4XkfWCB+9d/9Kb92tEvCS3cLBEwjcJ4Awu8+EIxAYE2jtNju+cb3tQng3PpjRzs30xs/RWf9VFH3J7P4vGZlHMRCAAAQgUBMCN+vIXoXHX7O+SXRM0H7k/GDfpZsH3Jcs5sG/jAlUqDiEWYU6k6bkQyD2nu2t7tsXSx7eMxcGoR2ajz6dnBJeP58epFQIQAACEPgegYl1ZG07J+sfCXt+4LftR84d+y7NdO222UqCQOUIIMyK26VYVjAC9sXSebHb3DQhdZSDaeP1Z//v/eWzHMqnSAhAAAIQgMCYgNaRxdMWc1hHpkr0XWlesq3W85Ws12ureDYIVJIAwqyS3Uqj8iRw8HxVwUE2nffnOdSz0fDubHHh9XNoAUVCAAIQgEBhCYwFWSN8DCFkHohqIrhHu7WzjpessO8EDCsiAYRZEXsFmwpPwL5sei/+vbLl8wkO4kbrzxBohX8rYOAsBDgHAhBYOgEF9nj7/rITchJk1sDJ4B55/HBpVZAgUG0CCLNq9y+ty5mApjf6nIKDyPSRQIsDhPz294aOsUEAAhCAwH0CHJlOYDKwh/3q95/pZ6U8GsIb+y4kuEdKjGSHAMKM9wAEUhKIvWcKDtK43rSisg6tb0W6YYCQx18/SqDFB/gHAQhAAAIQ+AGBsSBr9j+HQcgjsIeLpy0O/PaLvdVD+y6sw7TFHxDnJQikJ4AwS8+QEiAQE7AvpZ6Cg+Q1vdEq2dCX69vTy89EcDQaJAhAAAIQmEog50iLqvPbtEWCe4gHGwQyITAUZpkURSEQgIAITExvfKPnOWzjCI4ItBzoUiQEIACBkhKITi/39eNdyCnSYoyFaYsxBv5BIA8CCLM8qFLmVAJ1Ohh7z/ZWDzXn3oXwLqe2I9ByAkuxEIAABMpEQJEWY0HmXGR257IeOZ622LjeZNqiESZBICcCCLOcwFIsBETgRqDldnNq1WEbAs0g3CQeIAABCNSGgARZfC+yRvhojc5FkFm5PT/w2629le3Wznou66itDhIEIGAEEGYGgQSBvAloemPO68/UBASaKLBBIHcCVACB5RKYFGR53IvspnVaR3ak764W68hukPAAgXwJIMzy5UvpELhFQALN5xhe/6YyBNoNCB4gAAEIlJbAFMMXJMhcGIQj+65S+HtFc5xiCYcgAIE8CCDM8qBKmRD4AQFNBXkxCq+f3/ozWYBAEwU2CEAAAiUnoKAe0Z/9TzneHDomNFpHdvB8tW3fVYS/j6lU+x+tKxYBhFmx+gNrakTAvvR6NwJty3l/nmPTEWg5wqVoCEAAAnkQiO9DNoqy6FwUQniSRz0qMxZkrCMTCjYILJVARYXZUplSOQTmItDaWT9/8e+VLe9cyzLmubAagWaASRCAAASKTCCKwlp01n8Vmv3PwQSZ2bphW17pW2AP1pHlxZhyITAzAYTZzKg4EQJ3CGT8VOvPtMh6kQJNX/7Rb3/n+aWfMSWKgwAEIFBNArcE2SBobddaji1VYI+X+s4hsEeOlCkaAnMSQJjNCYzTIZA3gZFA0+JrqytXD5rV0Q6Pv34+Ob2KEGhGu4AJkyAAgWoT0LX37fv+cewhW4wgGwX2OK42WVoHgfIRQJiVr8+wuCYEtPjaN663TTwdWZNzXYTt3WB/LND+6D+1+kgQgEB9CNDSJRAYR1i0H8ecD7+aCXl7yEaCjMAeBpsEgSISQJgVsVewCQI3BFo7670bgbbl8o3gGNcYC7RG+Bj92f94cnq5Hx/kHwQgAAEIZEZgLMjsWhtCyPuHME1ZLIggywwhBUGgsgQQZpXtWhpWJQISaDcRHDcXIdA0WPDORW9PLz9LoGmqTZV40hYIQAACiyQwWj9m19QveYe8v2kXguwGBA81I1Dy5iLMSt6BmF8vAosWaEY3juQYHn/9dMI6NMNBggAEIDA7gejs6skC14/Fhmn6u29cxzeHtu+MXKfBxxXyDwIQyIwAwiwzlLkWROEQuEXAvmxH90BbiAfNKl+Lpzk+/vpZ0xyj94h8HOwAABAASURBVJfP7BgJAhCAAASmEBhPVxwMPi1g/ZgswEMmCmwQKDkBhFnJOxDz600gW4E2G0tNcwzenb1lmuNswDgLAhCoBYElTFcU17uCLM9IvqqPDQIQyJEAwixHuBQNgUURWIZAs7aNpjl+PtE0R6I5GhLSgwQ4AQIVIyDv2KKnKxrCu4KMKYsGhQSBshNAmJW9B7EfAhMEJgWa1hnYSwv59TSe5tgIH9/iRTPkJAhAYNkE8q5f3rGT078ONbVbwTwWNF1RzUKQiQIbBCpKAGFW0Y6lWfUmIIF2E2Z/2zvXMhoLEWhWD140g0CCAASqSWDSO+adf62p3QtqKYJsQaDnqIZTIZA5AYRZ5kgpEALFISCB1tptdl7sNjf9YgWaw4tWnPcBlkAAAskJyDsWnfVfLcE7JqN7wYWXRFkUCjYIVJ/AfWFW/TbTQgjUksCkQPPBny8Qwm0vGhEdF4ieqiAAgaQE5B2LxViz/yUMQnuB3jFn1+iuH/ht/ah2sLt6bD+ysYYsaUeSDwIlIoAwK1FnVclU2rI8AhJorb2VLX3puxDeLdKS2Is2juh4FUW/Xz1ZZP3UBQEIQOBHBGIxZt6xt6eXX7R2bJFiTHaNBJldo7dbz1e6OsYGAQjUhwDCrD59TUshcIuAvvRf7K3ua4rMogWaGWJetMF+eDT4FL3vfzo5vdyPfvt7w45nmSgLAhCAwIMEoiisTQbykHfMMq3Ztqh0YdfgN7oWI8gWhZx6IFBMAgizYvYLVkFgYQRaO+vjm1V75xYZKCRuY/DhidUbhZubV8cizQZK8Yv8g0DhCWBgGQlIjEW/2w9Cf/Y/hmb/i19sII8RsnFAD/uR7FDX4tELPEIAAvUkgDCrZ7/TagjcI6BBgaY5ak2DN4GmKTX3Tsr5gKYNWd2RBkonujca69FyJk7xEKgPgViM/dF/Gp32z+wa8zk8cpGuOYsmoGurppLbtXZd0XPt2vvw+rFFG0l9EIDAUgggzJaCnUohUGwCEmiaUqOpNW7B69BGZCbWo32JRZoNqEav8QgBCEBgVgLDdWNX+sHnc7xuzIVnlneRUxWtOjecrjjw27q2aiq54w8CBSOAOcsngDBbfh9gAQQKS8B+yV3qNMcbMGuxSGuEj29PLz+fyJOGSLtBwwMEIDCNgMTY2/f947ejIB6Dwb6dt2gxZlW629MVCeghJmwQgMB3CNRAmH2n5RyGAARmJiCBJi/aC90PLbgd7/yHmTNne+IwaMhQpA09aUx3zJYwpUGghASiKKxJjEVnV9FIjDkffrWmLEOMWdV+FO6e6YrWCSQIQGA2Agiz2ThxFgR+TKBGr7b2mh9auys7muYYBuHImt6zbRlp6Ekbht//onUjBA5ZRjdQJwSWQyAWYwrgMVozZj/YhOV5xgRh5B1bZ7qicLBBAALzEkCYzUuM8yEAgZiAvGhauF4AL5rsWQsuPPPOaR3JF90UNhZpFQvBr4ayQaDOBKKzvzfGoe2b/S9xAA/77BuTpXjGrF68Y4LABgEIZEIAYZYJRgqBQL0J3PKiufDSaCzLi2ZVO6dIa7FIUwj+9/1PWmuiaU7xi/yDAAR+RKBwr+mzG531X0X2WQ6Dr5/9ckLb3+WCd+wuEZ5DAAKpCSDMUiOkAAhAYEQg9qLtrh7HXrSB3zaF9G702rIedZ80+0n7V0Vje3sTPARv2rJ6g3oh8DCB8RTFifViYRDa8Wf54ex5nnHhXaNDqHuXwR9FQAAC0wg0ph3kGAQgAIG0BBQO+sXe6r5vXK/7Jd0XbUob4uAhZk8U5E37s/8Rb9oUShyCwIIJjL1i9pkMoymKy10vNiag+44FF17atWyztftLS9e28YvsQAACxSVQQssQZiXsNEyGQJkImBftQhEdtRheAxv75XuZAUNuoQshPJ3wpn0LIPL71ZNbJ/IEAhDIlMB4rdhp/8w82V/k0bZrQzv+TGZaU+LCembPkW/8vKlr18Hu6rGuZYlLIyMEIACBGQggzGaAVLBTMAcCpSVgA5veOGDIt6mOS12PNgHzWwCRR4NPNliM75nGtMcJQuxCICEBCbFIERSH0xM/j9eKLTlwx53mXLgQ3txMVdzUtaq1879FuT7dMZWnEIBAFQkgzKrYq7QJAqkJ5F+ApgNpqmO8Hi24HRsQaT3aRf41z1zD7WmP7/ufTk6vouj95bOIaI8zQ+TEehIYCTFNFX57ehkLsTiC4nB64kaBqNxaN2bXpENdmwpkH6ZAAAI1IoAwq1Fn01QIFJWAojragEjr0Ta9cy2/vBtYfxdR8OGJd4P94N2Z1qdpsHliQi32qDH18bvcfvgCL1aGwEiIRRMeMQkxTRW2RhZJiJk57kLrxvy1XWsa16wbc/xBAAJFIYAwK0pPYAcEIOBaO+vD9WjDG1gPg4YUUKTddNU3j9pw6uPNGrW/DhXI4OYcHiBQOQJx1MQ/+k/j+4mN1ogNvn6WEAvF84i5mw64Lcb2VrZb/9fs6Jpz8zoPEIAABJZOAGG29C7AAAhAYBoBDZjioCHlEGlqws0aNf9agQzenl6G6M/+MOqjpj/iVRMjthISGHnDNC0xet//FEdNbISP5tl+HYq1RuwuXcTYXSI8z4sA5UIgEwIIs0wwUggEIJAngXsirZhr0u4hiCPM+fBrPP1x5FWbFGusVbvHjAPLJRCLMPshIRZheq+eXn5RoA55wzQtUVN6l2vhg7UP14zZNUJRYBVREc/Yg8w4AQIQKAiBHwuzghiJGRCAAARGBGKRttf8oDVpL3ab64qg5kJQ4JAyRE9bC6MQ/d/Wqn3BszbqXR4XSSAWYb9f7t8TYfbejEWY3qvOrbni/01GU1yP7zVm1whdK4pvOhZCAAIQ+EYAYfaNBXtLIkC1EEhDQBHUbkTapm80tsIgHPngz9OUueC8t8Xa0LMWT4M8iYOLDNesaV3Pgu2iuooQ0HtH6x7jNWFniiza1+0gbnvCyiPC4l6xz3g3/qwP/LZ+oLFrANEUYzL8gwAEykwAYVbm3sN2CEDgFoHWzi/n8b2H9la2NI3Jf4vwWKQw/Lds/t4TedYUBdK74Zo1ret5e3o59q7Fg+w/+k816P5eGRyvF4HYA/b+8pneG7e8YM3+F617jN9LA0UWDU+MTBk8YWbmOMXrxYILL+2zva4pivFn/flKd3wGOxCAAARKTgBhVvIOxHwIQGA6gdbOem8UPES/qN9MeXxjv7SXyZt2t3Fj71o8yG6Ej5OCLTrtn5388Vc7ssG5PCSItrv48n6ef/nq0+j3qyfR75f7cV/f9YB5d6b3RsmmIn4PXM+F8EafXRNjm7EY2109ts926X5o+V4DOQ4BCEBgkgDCbJIG+xCAQGUJ3Ex5PLTBXem9aVM6KRZs5k145hv+VbDBuTwkU0WbDehj0WaD+ynlcGjJBGLhdfb3Riyura9iz9ek+JL369Hgk4JxxH1dXg/YNNJx4A57H8deMftBZXM0RRExNoGLXQhAoLIEEGaV7VoaBgEIfI+ADfJue9O0Nk1TpIKv4rSo26LtkYti0WaD+7enl8G2Lwo+Im+bRICmwcWiQNMkTSB8jyHH5ycwFl1ia6JLrMVcN2WO3sfrvj5LTMdRECWura9iz1e1xNckuG/TE2/WiilwxwFesUlG7ENgKQSodDkEEGbL4U6tEIBAgQjEa9M0GNxbUSABr6lTcWCBagq1u+THwk0iwGtNm0SBpkkOvn424TYUbyYcbgk4TZk0cRGNpk2aB05rnO4WXvXnanO83Yit0RTDseAahpwXxy9j0SW2JrrEWszDN+G1UXFeQyGmAD0mxG5NT3zOWrGK9z3NgwAEZiBQM2E2AxFOgQAEak9A0x7jwAL1FGrT+n9N968KITwNLjyTmIin0Zm4GE+bNA+cPD03Qk5i7nM0EnMmTmKv0NlVpHVRo00iJt5G4k7iRtuNyIsFj3nt4scoJA5WEecflTP5qLpGm0TmzSZPlmwciyuzWx5FCVNrn0SWNrUxqM3xdiO2RlMMxSgWXMbMgEpwJbbf8pc1TRdiz1fb+oyZ55q1YmXtWeyGAARyIYAwywUrhdaaAI2vHAENIu8JtW9THxlcTu/xjbGYM3ESixTzDEnQjTaJmHgbeegkbrTdiLxY8JjXLn5s9r+YKIrF0LyPcf5ROZOPqmu0SWTebPJkycaxuDK7JUiDtcOaKpGlzXZJdwhcGLsPxuqlvM5jjxhC7A4mnkIAAhCYTgBhNp0LRyEAAQh8l0As1L5NfVzX/dO8cy0XwrtFRX38rnG8AIHFEeh51+j4a9fyjZ83X+w211u7KzvxGrHnK108Yo4/CEAAAnMRaMx1NidDAAIQgMA9AlqjptD8L/ZW92+iPq7LYxC0lsb5D5YBr5pBIJWOwKTBd71h6ybENlu7v7Ra/9fstHb+tzd5MvsQgAAEIDA/AYTZ/MzIAQEIQOCHBOQpiL1qmsJlHgQbwJpX7XrTB7cTi7VhUBHE2g8p8uISCcQizDzAb/SexRu2xJ6oRdU0EgIQGBFAmI1I8AgBCEAgRwIm1nqtveaHibVqQ7E28NuxWDPPmg/+PEcTKBoC0wjE0xHjdWH2w8GkCDMP8KHes3jDpmHjGAQgUCoCJTEWYVaSjsJMCECgegRisfZ8pRuLNfOs3ZoG6cLLocfC695qeNeq1/2LblEcITF+T8VrwhpbvnE9no4YrwuzHw4QYYvuFuqDAAQg8I0AwuwbizLuYTMEIFAxAibWLuJpkLurx0OPxYrurSbv2nDd2m3BxrqeivV/Bs0xD5j/IAEWe8HMI3sjwNZN+G/H76l4Tdgv53qvZVAfRUAAAhCAQEYEEGYZgaQYCFSXAC0rAgENoqcItk0NuuOokOFm/dpwSiRetiJ0Wn42yPt17l2jE0+DvecBW9mRAIu9YOaR1XvH8QcBCEAAAoUngDArfBdhIAQgAIHvE9CgO44KuXezfm04JfKbl63R2PISbROeNj9cy1as6ZHfb2IdX1Hf3PZ8WR/GAnw4/VDery1FRIynweIBq+N7hDZDAAIVJIAwq2Cn0iQIQAACInBLtE1MjWztrWzdRIpcjwf7mu5mXpfY+2JeGBNuXdsUiEQCQUWxZUdATGPR5Y11zNzY+1h4/Rx7QNU3tm22TGSPPV8mvGMBvrOu/I6/ZATIBQEIQKDIBBBmRe4dbIMABCCQI4GxcNN0N/O6xN4X3Zdqb2V7JN5MIHhF6tN92eLNRITEhNYweRMWPniJOE2d1Hq3OooGtblnHM69ppEaE7ERo/jGy7HgMq/l8AbM3njeBNxY2WkZ65i5sR9FP1SfOP4gAIEyE8B2CCQmgDBLjI6MEIAABOpBQJH6tL4t3kxESEzIkyNhYQJOIk5TJzdvRIcJuWvzxJn3R544bRInJugkVCRYtEm8eBMxw81/MGETC7ybR3nrJPQmNwkgl/BPeSfLivdv6hrWeyOqvNkk22SjNtkcb2qD2qKpoSaytLbP2vuAQ4oQAAAAJ0lEQVRNaJkXsmUerpaJLbERo/jGy2NPFzdgdvxBAAIQgMAPCfx/AAAA//9aE3KoAAAABklEQVQDAAAYnSPC3xyDAAAAAElFTkSuQmCC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" name="AutoShape 4" descr="data:image/png;base64,iVBORw0KGgoAAAANSUhEUgAAAm0AAAJtCAYAAABkC0e+AAAQAElEQVR4Aey923Ic15WuO2YBtOXd9hK4LhwCWxEq+AUE+m6HRargFxDQTdLhKxb8AgRi7XsCD7CD4AsYxSuHSdmAXsBVIrVvm9ALGKWwm1D0hQmHVy/LJlC5x5+FBApAHXLOnHn+K3IiszLnYcwvE5V/jnnIhvBDAiRAAhkT2O0eLux1j5ovuket33bfrD7vHrURXnz5n1sIv/vqaBfh81ff7n3+6qiL8OLVm9efvzw6vBRefftWjwVXw4P1/xVolSaFQz02Grr6PQp7ur17FrZ0jdDWNUJL1whNXS9o4EICJEACmRKgaMsUNwsjgWoTiIRYKMBevtl4/urNzlB8HXXPxdaro+BH8++9PZ2XQzMv3bl5s9eYl10E02g8RggCaSOIBKtKDEKpZcQsi5HmpSCBi3hqishoCPMXEaxRHgQawmMRQYhEXCTsIPje6rFAA7Zf6xrHEG9Htzc0IB/k19TtGiysIgmQQBYEKNqyoMwySKAiBCDKzj1jZ4Ls3AOmYiwSYqEAM+ZJQ8yjofiS1rnYkkp9IMqWtUYtDRB6j3T9RAM8dhByEHUQdxB5+I79kbBDGqTV6FxIgARIYDaBxuwojEEC5SVAy+0JRMLsxZmn7HM0UaJZ8kyUnXvGzgSZiTxg9kXVKcWCVhYiDR64SNhBxMFLB1GHNb6PCjqk0WRcSIAESGBIgKJtyIF/SaB2BNCvDF4ziDM0Yb5An7FX34bNlhBm5sxTJmiiRLNk7QhlWmF43CDqRgUdvHMIEHNoekWzK+JQzGV6algYCUhhEFC0FeZU0BASSI8AvGfoZ4Y+Zp/Dc6biDP3KInGGJszQY+bWRyw9w5kzBBqEGppe0ewKAQchh4BteObgvYPoIy0SIIGKE6Boq/gJZvXqR+CyQDvqqkgLvWfoZ9bQJs3Qc0ZxVvYLYyjmROCZQz85NK9eFXLob1f2etJ+EiCBEQKNkW1ukgAJlIwAmjhfdP/UQhOnirM9DVcEmqiXJsANXvipPAGcZz3f50IOgyAQIOqiptXKQ2AFSaDKBCjaqnx286sbS06JAETabzGv2as3O5+/Our+aP4Hh2Z+vov+Z/SgpQS93NnC24bm06hpNdDqRM2qEHgQerqLCwmQQBkIULSV4SzRxtoSGBVpL169ef2j+ffezmFes7CZU/SmG/CmK/xYEtDrJvTGQbyhSRVNq1HfOF5PljAZPU0CzPsqAYq2q0T4nQRyJvBCmzt/9+ro8dCTdiHShgMFcjaOxVeRAAYxRH3jIOIg5iDiIO6qWF/WiQRKS4CirbSnjoZXhQAGDgz7pB2FgwaMNncGInh9Ukv4KSSBihuF6w4iDuINIg594jB6FU2tFa86q0cCxSZA0Vbs80PrKkgATZ7wpoXTb7w8OgzfImAM+hzpzTKoT/NUIH0RcyAiPWOkgxAMBtthCILNQSDrCIHICsKgMXd7bl6WRsPfTr67ee/Oorkanu/+v0ZExoWbIrJ0Jazo9yis6fa6hk0N22eho+t9DT0NsFft1q16LAtaTfSJwzxxGNSAgG29VvUIFxIggUwJULRlijvtwph/UQlAqGGetM9ffbv3o7PBAw30SzPSlEp9zLEEoqLG7BsjHQgwCC8JgrVIdJ0LrbuLS/fufHD73p3FlX//ZHEd4f6n/7oVhru3dh7cXewg3L+z2EN48LMfH6z934v90bC+snQsdh/EV/tkNECMRQHiDCINzYPwdiJAxK2JCITdbV0vaTAabmrANvbjeCT0kB75QeChPI1WmaWpNWlroBdOIXAhgawJNLIukOWRQF0IQKhFzZ4/mn/vLeZJE7xdoNRzpJnjSJQNJHgaqEcMggzer6EY++DmvaEYW4tEGITXvbu39iPR5SC0inrJQJBB/EGgQexFQg8iD0LuthoOYYeAbeyDsHuq+xEfok43S7tc9cJByEHQQdiVtlI0XEQIobAEKNoKe2poWBkJoH/a6CACc97sWbLaBKJixOxfFWb37lyIsgd3bm3cV48YBBm8XxUSY+L5A3EHgQZxB2GHOdPgmYOQM1pW5K2LBB3iKX89Uq4FTaZoOkUTKgQc6kkBV65zSGsLToCireAniOYVn8CoRw390wIRNKm1pBQfA0HRgzhDMyaaMEOP2Zm37Kowy7lKVS0eAg1CLRJ08MhByMFDh+1RMYfzVQYOuP6fqKEQcK91TQ+cQuBCAkkJULQlJcj0tSQwKtTQ9FkKj1ogKg7M/miTZug5u7O4AnGGZkw0YdJjJkX5QKBdFXMQchB08NRtq6FoZtXzqlvFXZbVtFEPHAWcAuFCAi4EKNpcqF1Nw++1IACh9nn3zWo0f1qxhdqFBw19zka9Z6NNmrU4cdWrJETavlYLHl2IN4g4iDlsQ8hB6EHwaZTCLfDARQIumkqkcEbSIBIoKgGKtqKeGdpVGALR9Bw/mv/Bocwb3Ghw4ymMfaEh6kUzRjpo4sSggFEPGvqc0XsWUqryH4i0SMihSRUiDn3mMCjimVYcfep0VaglmkoEc8FByBXv/ypjXCyOBGYRoGibRYjHa0kAXrVwQMHLo/Ddng1Mz1GoUZ/mYCDB01EvGkZrookTgwJqedJY6asEINQw/QiaIyHg4JFb00gYvYpjulmIBaNQYSMGL6APHAcwFOK00IgiEmgU0SjaRAJ5EYBXLWr+DAcUGCnG6Df1pF0SaXc+uI1+aNl40YSfahCImlUhiiDibmq1IOKK5InD/9sTtQviDV5tiDn9yoUESAAEKNpAgaHWBM69aq++fWvm5/G0X4BmGnMcNXdG/dEo0mp9maZR+ahJFcIIIg6euKg5FQIvjTJt8oyaTyHg0HwKQWeTnnFJoHIESi3aKnc2WKFMCVzzquXf/NlT7962hhX0SYuaO9kfLdPLos6FQahFzakQcBBymG4EAxvy5AKxBmEJ8QbvG8RcnvawbBLIjQBFW27oWXAeBIrlVbviTbuzuHL/zuKWhrxvknmcGpZZPALo94a54zCwASIOXjgMdoCHLi9rIdgg3CDgIOQg6JLawvQkUBoCFG2lOVU0NAkBeNWev3qzgxGg6snakty8auYYfdPUBnrTkpxQps2aQF8LhBcOfeDQFw5CDn3hsF8PZb5ArKHJFOINa3zP3AgWSAJZE6Boy5o4y8uUAMQaBhagr1ojrxGggfRVpJ03e6JvWixvWqakWBgJWBGANxieLnjgIOAwIjUvAQc7IN7QHxWeOKuKMDIJlIlAo0zG0lYSiEMATaAvXr7ZiMSapsl+YMGoULu7uKQijc2eeiK4VJIABBxGpELAoR9cXgIO/+ejTaeVhM1K1ZuAi2irNzHWvrAEINYwtxqaQI0xT9RQ/IjrKqvFHJ971CjUsoLOcopFAP3gRgVcHk2oaCpFkym8b/DC4XuxKNEaEnAkQNHmCI7JikNgt3u4EIk1FU0Z91czl/qo0aNWnOuCluROAAIOogkeODShXhFwqdsHsQbxhmZTrPE99UJZAAmkSYCiLU26zDtVAr/pHjVzHFyA6TlW/nby9yX2UUv1NDPzahBAE2ok4KJRqFnVDGINZcPzRvGWFXWWkwoBirZUsDLTNAlArL14edS5MS+HjRQGF0yyPZDgQD152+Fkt8PpOXqcQ20SLe4ngYkEolGo8MBBwGU5gIHibeJp4YEyEGiUwUjaSAIgMCrWjJGH2Jd+uGj+vH/n1m00f1KopU+dJdSCAMQaBBzEW9R8mtUccBRvtbjEcq1kKoVTtKWClZn6JJCPWJNeEASbbP70eSaZFwlMJHC1+RT94SZG9niA4s0jTGaVPgGKtvQZswRHAtmLtQuv2j00f969tUOvmuPJY7LiEii2ZfC0wfuGqUMi71sWFlO8ZUGZZSQmQNGWGCEz8E0gHA368s0T9FnLphnUHA/7qnFQge9zyfxIIAGBq943NKcmyC5WUoq3WJgYKS8CFG15kWe5VwnI7ujUHcZgrqdrcTzvCEeA3rvzwU32VfNMltmRgD8CEGvwvqHvGwYuQMz5y318TpF4e6yHMfpUV1xIIH8CFG35n4PaW3BJrIlsSarvBTXHYqSjnrWVe2gCvbOYxQ1A+CEBEvBCAOINzaYQcJj3zUumUzLR3yPBPG9ZPEROMYOH4hOodkyKtmqf38LX7vnLo/aPbrz3WkWU/jgGC+kZfNEEeu+TxXX1rFGspQebOZNA2gTgfYM3DOIt7ddmwdOGN6xgnjeUmXbdmD8JTCRA0TYRDQ+kSeBF908tvBu0YWRXAsGPoqTzuRBrKtS2OLAgHcrMdTYBxkiFQF9zhRcM4g1Np/iuu1JZ8DuFyXkh3lqplMBMSWAGAYq2GYB42C8BjAiFWDPz82hySPOHrzcITtfvsb+a3xPI3EiguATQdJqVeMPvFwQchFxxidCyyhGgaKvcKbWtUDbxo35rGBGqJaYq1gKRsL/ag7sf4kdci+NCAiRQIwL4v89CvKGpFF63x8q2qYELCaROgKItdcQsYO/Vt49+NP+DQxVTWynSOBsJuriizaDsr5YiaGZNAiUhEIk3DFxI8zcBv2vwvEHElQRNCmYyy0wIULRlgrmehUT91k4l2JH0RoRSrNXz8mKtSSAuAQg2CDcEbMdNZxMPnjY0l8Lzhm2btIxLArEJULTFRsWIcQmETaEv3zxJud8axVrcE1LveKw9CUQEINgg3BDSGrAAwQbhBgGH7ahsrknACwGKNi8YmUlE4LwpNL3JcSnWIthckwAJuBCAeEu7zxuaStlk6nJ2mGYqAYq2qXhSPFixrJ93/2sZo0JTawo10g9kOMCAfdYqdvGwOiSQD4Goz1taU4U0tVrwuL3WNbZ1xYUEkhGgaEvGr/apw6bQV0ePG/On+GFKYVSoOQ5MsHnvk8UlirXaX24EQAJpEEhbvC2r0Wgyfaxr7wszrBcBirZ6nW+vtcVAg4u3GXjNWjNTsSay/beTvy/d/+TWju7gQgIkQAJpEojE27YWkkafN4wyhXhb1fy5kIATAYo2J2z1TrSLF7tHAw1SeJvBQIKnoVi7s8g3GJT2UqPhJFBaAhBXGKzwLIUaoJl0T/NFsym2dZMLCcQnQNEWnxVjKoHfvnyzGs65ls5Ag967E1l6cOfWBl83pbC5kAAJ5EWgrwVjMAEGLKQh3pA3ByooZC52BGon2uzwMHZEAN61z199uzdnjD4lBgvRfh/rgQy+DmQ4yOCXK4v4sfSRLfMgARIggaQE8HsEgbWmGWFbV96WpuYEjxsCtvUrFxKYToCibTofHlUCkXdNJPDcF8McY5DBgzv/usxBBgqaCwmQQFEJ7Kth8LpFI031q7cFopBeN284q50RRVu1z2+i2u12DxfS866d9VvjIINE54iJSYAEMiWAwQpp9HeDpw0eNwRsZ1opFlYeAhRt5TlXmVoajgyd/8Ghf++ahJPjPmC/tXTOJ3MlARJImwCaSeEdg+cN2z7LQ770uvkkWrG8KNoqdkKTVgfetd9FI0O9vi90Y1W1YwAAEABJREFU2BR6787iCptCk54lpicBEigAAQg2CDffTabwtMHj9kTr6LX/sObHpeQEshJtJcdUD/ND79qN914HnkeGDqIpPNgUWo8LibUkgXoRSKvJdEMxYtJyiDjd5EICIhRtvApCAufeNZ/zrp29eopNoSFi/iEBEkhMoLAZwOuGpk30d8O2L0Mh2A41s8cauJAARVvdr4HfdI+aeGeob+9agLcZvPvuNptC636Fsf4kUCsCPa0tmky3de1zwYS/EG8QcT7zZV4lI0BPW8lOmE9zf//V0cMb8wbu95bHfMMJclWs1eptBh75MSsSIIHyE4DIgnjz7XXjIIXyXxuJakDRlghfORNHgw0GgXTE22CDi4EGnCBX+CEBEiABCDYIt01FcazBxwJPGwcp+CBZzDxmWkXRNhNRtSKgOfRH/gcbqHctuH2fAw2qdbGwNiRAAj4I7GgmtzWg6VRXXhYOUvCCsXyZULSV75w5W7z36ttHYXOot8EG9K45nwwmJIEyEaCtSQnA64ZBCr69bujeAgGX1D6mLwkBiraSnKgkZkbNoacS6BNf4GveH3rXkpwUpiUBEqgjAf0NFp9eN/yeYz43hDryrF2dKdoqfsrRHPov89/r+RsdWijvWsXPHqtHAiRQQQKR183nCFN42zi6tIIXy9UqUbRdJVKh7799+WYVzaENaXzso1oDGXz97oR913ywZB4kQAK1J+B7hCkGKWB06WrtyVoDKE8CirbynCsrS3/36ujxnDF7vkaHDiR4+uDOvy5zZKjVaWBkEiABEphGAF43jDDdnhbJ4hiEm/7uy2OLNIxaIgIUbSU6WXFMRf+1cLJcETzFSeKPkX4gsvLgzi243xNnxwxIgATiE2DM2hDA7zUGKkDE+ag08oN4a/rIjHkUhwBFW3HORWJL0H8N03loRi0NHhaz/ze+1cADR2ZBAiRAAjMJYEoQCLdnM2PGi4BmUjSXUrjF41WKWBRtpThNs408f7uBl+k8osEGH6ytryyNmRRytj2MQQIkQAIkYE0Anja8w3TTOuX4BBBsmBYEeY6Pwb2lIkDRVqrTNd5Y9F/z9nYDI30ONhjPmXtJgARIICMCmBpkScuCiNNVogXTguAtCo8T5ZJGYuZpTYCizRpZcRKE/ddeHu0GIui/IEk/AwmeojmUgw2SkmR6EiABEkhMAIINc7o9TZzTMAPcJyDeIOKGe/i3dAQo2kp3yoYGo/8a5l8TIx7c3sPmUAw2YHOo8EMCJEACRSGA7ikYBLapBmFbV4kW3C/QXIpm00QZMXE+BCja8uGeqNTn3f9avnFDul7mXzNsDk10MpiYBEiABNIngObS21oMvG+6SrRAsHGAQiKE+SWmaMuPvX3JmgIDDhrzg654GHAQBPKMzaEKlQsJkAAJFJ8ABBuEm4/RpRBu8LhhhGnxa04LzwlQtJ2jKP6GzwEHgQk2799dbLM5tPjnnRaSAAmQwBkBNJGiiXP77LvT6iwR+rbt6TYHKCiEsiwUbSU5U797+eaJlwEH2hyq+azc/+QW3O0lqT3NJAESIAESGCGAQQWY0w3et5HdTpvIi8LNCV32iSjasmduVeL5CFFj0BnVKu3VyAO8O/SdrNy/s9i7eozfSSB/ArSABEjAggB+x30KN3jd4H2zMIFRsyZA0ZY1cYvyfI4QRf+1/z75Z4vTeVicAEYlARIggWITgKcN87n5mBYE/ds4QKHY51so2mKcoDyiQLD5GiGqzaHb7L+Wx1lkmSRAAiSQCQG0xGx7KGlZ86BwUwhFXSjaCnhmIsGWfISoOVbBhuZQ9FkoYE1pEgmQAAnUhkDaFcXv/JoWgsEKunJeMLKUws0ZX7oJKdrS5WudezgH27x5nViwmbP519h/zfocMAEJkAAJlJTAvtqNaUHQbKqbzguEG6YEgefNORMm9E+Aos0/U+ccz+dgkyBRZ9CBDL7m/GvOp6F+CVljEiCBKhGAYMMAhYOElcJ9CB63hwnzYXKPBCjaPMJMkhUE2yCQjiQUbBhw8ODOvy5z/jXhhwRIgATqSgDCDR63pAMUINz0viToMyf85E+gyKItfzoZWXAxaW6yAgORcMBBslyYmgRIgARIoCIEILa2PdTliebxWAOXnAlQtOV8AiDYVGyhA2kiS0xD1u/fWUycTyIjmJgESIAECkeg9gbhvrDpgQLyoXDzADJJFhRtSeglTOtHsA1HiP77zxbhwk5oEZOTAAmQAAlUkADegIPm0qQjSynccr44KNpyOgFeBJvhCNGcTp+XYpkJCZAACWRIAAMTINzQ3y1JsRRuSeglTEvRlhCgS3Jvgu2drPANBy5ngGlIgARIoJYEINgwshTrJAAo3JLQS5B2jGhLkBuTziTgQ7ANOKXHTM6MQAIkQAIkMJYABBuEGzxvYyPE3EnhFhOUz2gUbT5pzsjLh2ATMft4hyin9BB+SIAEikyAthWZQCTcMBlvEjsp3JLQc0hL0eYAzSWJD8GGOdju3flgbX1lKWlnUpcqMA0JkAAJkEB1COA+gtdePUtYJQq3hABtklO02dByjOtFsHEONkf615JxBwmQAAmQwAWBtm5ua0iyULgloWeRlqLNApZLVG+CjXOwueBnGhIgARIggdkEILoo3GZzGomRzyZFW4rcKdhShMusSYAESIAEfBKgcPNJM6W8KNpSAkvBlhJYZksCJDCVAA+SQAICFG4J4GWRlKItBcoUbClAZZYkQAIkQAJZEKBwy4KyYxkUbY7gJiXzIthMsFm994hOIsb9JEACJEACBSMA4baZ0CbkwXeVJoR4NTlF21UiCb7vvfr2USCCC1VcP6Yh6/c/uYX3xLlmwXQkQAIkQAIkkJQA7kPrCTPB/fBhwjwuJ6/5N4o2TxfA7786engqAS5y5xwh2P79Z4sd5wyYkARIgARIgAT8EcD9KKlwQx4Ubp7OCUWbB5DPu/+1PAgEF6a4fijYXMkxHQkUggCNIIGqEsC9Lalwg0NjuaqAsqwXRVtC2r/pHjUb84NukmwCE2zSw5aEINOSAAmQAAmkSADCLUkftwW1DffJpq65JCBA0ZYAHgTbjRuiF2KAC9Ipp0BkO9U+bE5WMREJkAAJkAAJXCIAb1mSCXhxn9T7pVC4ifuHos2R3blgC8T5AgwFG990IPyQAAmQAAkUm8CZdRhYkES44X5J4XYG02VF0eZAbbd7uDA3P9gXCjYHekxCAiRAAiRQYgI+hNue1h+eN11xsSFA0WZD6yzuj+Z/sNuQxsdnX61X9LBZI2MCEphAgLtJgARyIJBUuGFQwpMc7C59kRRtlqcQk+eKBKuWyc6jB+jDxibRcx7cIAESIAESKCWBpMKtrbWmcFMINgtFmwUtCDYVXbhQZ6YaFyEI5BnfdDCODPeRAAmQAAmUkADuh88S2L2haR9r4BKTAEVbTFC/fflmNYlgEzH79+8u4slC+CEBEiABEiCBGATKEAX3tf0EhkL4cfLdmAAp2mKAwkjROdPYjRF1bJSBDL7+28nfk05OODZv7iQBEiABEiCBnAng/naQwAZMJ4J+bgmyqEdSirYZ5xmCLdFcbEb6pyeN1fWVpeMZRfEwCZSHAC0lARIggQsCuL+t6Ne+BpcFI0n3NCGmBNEVl0kEKNomkdH9mNojFGyuU3uoYHv3TlZ+ubLoeiGrFVxIgARIgARIoPAEkgo3CDYINwi4wlc2LwOrJtq8cvzh3Hs77nOxmWMKNq+ng5mRQBICuBFg1Df636APTRSwr5UkY6YlARI4JwAHBTxuEHDnOy020ETKEaVTgFG0TYCDkaLGiHPnyMFJgx62CWy5mwQyIgChhpFpmIH9rZaJp3j0TcW+KGAfjgd6HGuIOt3kUm8CrH0CAhBuawnS438Q/58JsqhuUoq2Mef2+cujtv6C40l8zNHZuwITbD5Y+XGSTpmzC2EMEiCBSQTQzNLRgxBq+D+O60lDPIi6Q03Lm4ZC4EICjgR6mg6DE3TltOD/1tlp4lRiSRJRtF05URh40DDG2T2rYm/7/ie3MBLmSs78SgLJCTCHmQQeaYzXGpL84EP04aYB8YbmU82OCwmQgCUBPDhtW6YZjY77KP4XR/fVfpuibeQSgGALBx5IgGaVkSPxNgcSPOXkufFYMRYJeCaA/1k0b+KHHts+sscNA82n9Lr5oMk86kgADz+uk+/i/xj/01jXkd3YOnsSbWPzLt3OG/PqYQsEP9Ri+xnI4OsHd25hdmfbpIxPAiSQjAD+Z+FdQ/NmspzGp8aNx9n7Pj5L7iWB2hBAHzXX7kL438aDU21gzaooRdsZIQw8ENd3iprhXGxnWXFFAiSQHQE8heNpHD/uaZaKB7LHaRbAvEWEEKpKACNKMUDBpX54GOP/3hk5ijYFkewVVZzaQxFyIQFXAhBd6DcGbxYGAYwG7MOxaYIMzaHTjrvaNS4d7IF4G3eM+0iABCYTwBQgEG5YT441+Qj+9/BbMDlGTY7UXrShH9tcQ5tFHU/4aTBY5+S5jvDKk4yW+iUAoQbxAw/ZW80azR94kkYzymjAPhzDgAA0f+IYBBqevCHWkDbJgAMt2nqBTbDBOiETkEDNCcDTlmQqEDzQ1f5/r/aiLRx4EIjThRCIbP/i7q0kL8oVfkigZgQwuhMiDH3EWhZ1x6Sb+NFGWog95APxZ5GFl6goE3Z4yYyZkEDNCGAqkG3HOuN/Dw9xWDtmkXey5OXXWrT97uWbJ+Io2AYcKZr86mMOdSKAByN0RoaHrOw/uhCbCHU6f6wrCfgigKZO1xGleHiDt9uXLaXLp7aibe/Vt48CY9BEY3/SjPQ5UtQeG1PUlgCaMNG8+XGFCMDTV5nqsCIkkDEB3HvxEOdSLNIiuKQtfZpaijb0YzsVgdoX648KNrxT1DodE5BAPQlAsGGSzbJ7166evZbuqFqdtEpcSCATAsdaCvq3oZ+bblov8LbBe2+dsOwJaifadruHC2E/NscJdINAOPAgs6ueBZWcAEZ7QbCVvBpjzYdgg3AbPRjtw4AJPBSOBrBA085ofG6TQJ0JQLC5vuoK/2vo24p1rRjWTrT9j7nvP3btx4aBB/fvLKIjpfBDAiQwlQCegqveYR+iDTcNNNXgBvJWiWCNesMTMBrQgfq1HsdAChyngFMYXGpPAPfTTUcK+I3B/9js5BWKUSvR9vzlUTtBP7aOCjY8OVfo9LMqFSIQiQcIAggDCAh9ztBHFAkD9kFQ4BqG2Ei76rADNqVdTp75f6aFg6vNSFjcaOCJg4DD+cB3zYYLCdSWAAYnuQ5MwAMTumDUBl5tRBv6sTUa8tjpzBrp/+3dd5tOaZmIBNIlAAGGmz9EGsQDBAGEwFXBhH2Ii/8BxIfYiOL6thD5oizf+RYtPzC9ytnGRjDCecB5S5KPTZmMSwJFJADxheZSF9sg+vC/6JK2dGlqI9rCfmyBOJzY4RsP1leW0HFS+CGBghDAtQzxhYCbv61ZSA9vGNJDZBLmCoIAABAASURBVOE71vDEYT8CmvSwxj70yUKcOOVAGMaJxzhDArhhwfMWl+8wFf+SQHUI4P7q+sYEPPDgd6o6NKbUpBaiLXyvqJNgEwnMYLt2bzyYcsHwUCEIYLoJ3ORdxNrVCkAo4AcPHh+sH2sEiDcECDWssQ8CDnFQLvYhnUa9tsCmSceuReaOcwJgBgGN9fnOsw3clCDscH5wDkabvbGNfUgLcQ3+Z8m4IoFSEYCnbdvRYlz38Fg7Ji9PssqLNjSL6q8afsysz8oAE+h+cguuV+u0TEACKRDAzRs/TLgmsZ1CETOzRAd6iAeIBIi5qwkg6K7u4/d4BCDYwBVrpMCNCN/f6hecd7CNjumu8wX7EBfnA/Eh4hD3PAI3SCAPAg5l4rftqUM6JMGDDf4PsF3ZUGnRdjG9h8P5M9L/75N/OIk9h9KYhASmEcAPEW7GuHnjh2la3KyOQSjg/wMCAdtRuZ9GG1w7EQBLeDVxvhFw7m0zQh4Q1jg3FG+29Bg/bwL4XYHXzcUOXPd5PdC62GudptKiLcn0HphAl/3YrK8nJvBLAD8+mOfM9ebt15rxuUEgQBxATMILh+/jYxZmb+ENAUcXsXa1YjgXuIkh4Fq6epzfSaCIBJL0b8M1D49zEevlxabKirYk03sEJthkPzYv1xczcSeAGzf6j5VlODua7xDca8yUaRGAtw3XEm5oaZXBfEnAJwF42rYdM8QDpI+HHsfi001WSdGGfmwJpvfo3M+pH1u6p5q5l4gAhFoZb7KV/aEs0bUzyVQINnhssZ4Uh/tJoEgE0L9t39GgynqXKyna5udkSwKx/3Ey0tdmUVd1L/yQgAcCEGxoEvWQFbMggUsE8JuI/nJsKr2EpXJfqlQhvOYKXjfbOuFah3CzTVf4+JUTbWgWNUZw47OGHwSyzmZRa2xM4I8AfmjwdOkvR+ZEApcJoNm90n1+LleX30pOAP3bINxcqoEpixBc0hY2TaVEW5Jm0UBk+z7fK1rYC7UmhqH5qrpekJqcxBJUs9J9fkrAnybaEehpdNdpQOBtq9RvaqVEW5JmURVsGGas1wYXEsiFALwf8LTlUjgLrR0BXG+1qzQrXFoCeNA4cLAegg3CzSFpMZNURrQlaBaVd+8Er88o5hmiVXUgALHGh4Y6nOni1LGlpiDoigsJlILAmlqJ5lJdWS1oIkWwSlTUyJUQbUmbRdmPraiXZ6ntwhMebop4QoQgw9MeAraxD8cQB5XEPqwZSCBLAngdGq5FXJevtWDMtxcFNNVj0AKOox+cHuYynQCPpkwAAxJcBwriGo9+b1M2M93sKyHanJtFRXpsFk33Aqth7hBjuOHh5oc15i5DU1RbWSBgG/tw7K3uw5pvEVAQXDInAO8DrkVclxBm8PhGAddxdDwSdIiH45kbygJJ4IwABmqhj9vZ19grCDb89sZOUNSIpRdtn3ffrLqNFjXH707EdVRKUc8n7cqPAG5okVDDDQ8/EnGsQdxUb4RxjGAcEphBANcovBV4yMC1PiM6D5NAagRw33ZpJoXXGL+3qRmWRcalF21yw+BJ0ZpVYAbbbBa1xsYE1wngZoYbGW5o2L4eg3tIoDoEcI3jWscDCrarUzPWpCwEat1MmqNoS359/O7V0WMJxOWHo8e3Hgg/yQngqQ1NR1gnz405kEB5COB3Fw8raFYtj9W0tCoEXJtJcd3C41ZaDqUVbRh8EIg4dOBms6jw44MAJnDGTStuM6iPMpkHCRSJAG6A+B/IV7gViQhtyZKAazMp+raV9potrWi7cUPwY2F9gbBZ1BoZE1wn0NJdfNWUQuBSewJ4aMFvMQRc7WEQQKYEkjSTOnWryrR2EworpWjDnGzi0ixqpM9m0QlXAnfHJYCbE/r0zIrP4yRQFwIQbpgeBOu61Jn1LAYB12ZSPHiXspm0dKINzaKNhsC9aX3JcBJda2RMcJ0AntAg3K4f4R4SqC8BNDfhYQY3w/pSYM3zIIBmUpdyoSNK8KBxuWqlE22uc7IFIhwtevnc85s9AUx1gLmr7FMyBQlUnwD+N9BUipGl2K5+jVnDIhBwbSaFYINwK0IdYttQKtEGL5vTnGxoFr2z6DBoITZHRqwHgdL9g9fjtLCWeRCYUiY80WguhecNN8YpUXmIBLwQQDMpxJttZmgibdkmyjN+qUSb8+CDgJPo5nmRVaRs/GPjZlSR6rAaJJA6AXimX2spuDHioRlreODwv6S7uZCANwKYbDdJM6k3Q9LOqDSiLcHgg879O4sur71Imz3zT4VAapniBpRa5syYBCpKAA866AcKLzXW8MChCTXQ+mKN/yt64xQGl8QEcJ9/6pALHiLwQOGQNPskpRBtaBZ1GnygzaLv3onrC2azPxssscgEPiuycbSNBEpIADdLNKHCGwdRB4FXwmrQ5AIRgEcXXjdbk3D9XX54sM0ho/ilEG3fm5eH4jDFx2BwysEHGV1IFS8GI+NK8Q9d8fPA6lWTQFOrhZtt5HnTr1xIwIkABJuLowa/76XwthVetMHLpn50/EPbnUH1sj24+yEnQLWjxtjjCeCmMv4I95JAtgSqXBr+z+B5g9ejyvVk3dIlgEEJaCq1LQXXHa5B23SZxi+8aAun+HBAos2iKw7JmIQExhGAp23cfu4jARLwTwAP6RBv/nNmjnUh4OJtA5vCX3eFFm0vun9qOU7x0fnlyqLL8F+cNAYXAtVLA3c5+tzAZf5p9arHGpFAoQlggELhb6CFJlhv4+Bpcx2UgN/9wtIrtGgzN+bt/2m1WVS9bK4qu7AnioZlRgD/sOhbgwlCscaIN+zLzAAWRAIkEBKAcMNDU/iFf+pBwGMt4bFFHzfbLNFMapsms/iFFW2uU3xw8EFm107VCoIwg0hDwDY8bVWrI+tDAmUjgIcmdk8o21krhr0QbC4OHPz+44GhGLW4YkVhRZvrFB8cfHDlDPNrHAJ4sorEWpz4jFM7AqxwjgQg3HIsnkWXmAAGJRw42I97QiEf3Asp2vZeffvIZYqP00Gw6XBymKS+BBa06miChxtdN7mQAAkUkAA8HwgFNI0mlYCAiy7AKNJCNs0XTrRhio9TE9jDMtL5xd1b+yW4gLyayMwSEYBgK6wbPFHNmJgEqkUAno9q1Yi1yYoABiUg2Jb3SBPgwV5XxVkKJ9pcJ9Ll4IPiXFQlsQRNLngPYknMpZkkUGsC8LQV7gZaoTNS9aqsO1QQ15u9A8mhIJskhRJt8LIFIvZNVepl4xQfwk98AvCuFe6fMb75jEkCtSSA/9taVpyVTkwAU4C5TAFSOG9boUSb00S6Rvr0siW+oOuWAZtaynLGaScJXBD4+GKTWyRgTQAOIYwotUkIb1uh7heFEW3wsrlMpBsE8oxeNptrsPZx8bSOTqa1B0EAJFAyAq2S2Utzi0UAgs3F24ZWmcLcMwoj2ly9bPfvLEI9Z31psLzyEijUU1N5MdJyEsicALwemRfKAitFAFOAQLzZVqow941CiDZXLxsm0rUlz/i1JoAn9cI8MdX6TLDyJGBPoIKizR4CUyQiAMHmMuFuYVpoCiHaXL1snEg30cVbx8QQbXWsN+tMAiRAAiQwJABvGwYmDL/F/1sIb1vuoo1etvhXDGMmJsAXv8dEyGgkQAIkUGECLlOAFMLblrtoo5etwv8Wxasam1eKd05oEQnEJeDyOqK4eTNevQhgsl0E21rn7m3LVbTZe9mGfNmXbciBf60IoC8bglUiRiYBEigMAfRHKowxNKT0BErZty1X0UYvW+kv+qJWAB419F/Da6oO1chAA9bYr5tcSIAESkjgC282MyMSEIGnDUEsP7l623ITba5etiAQl7Zoy3PC6CUlAFGGfygItK7Woa2B3jWFwIUEKkDA5QZbgWqzCikSKJ23LTfR5uRlE+ndv7PIf9wUr+ASZ43XjUCsYd4+iLcyVoU2kwAJjCeA0X7s0zaeDfe6E4CeQLDNARPu2qbxEj8X0ebsZRNxUcVeQDGTQhN4otZhGDfFmoLgQgIVJMDf/gqe1IJUyeXaeqi253K/iSfa1DqfC71sPmnWPi80g+b21FN7+gRAAtkQgKctm5JYSt0IwNOGYFNvCLZc7juZi7bQy9YQ6/myAnrZbC6ousTFQINWXSrLepJA2QkksB99VRMkZ1ISmErAxduGLjkQb1Mz9n0wc9E2PxesSiB2ncON9NmXTfi5TAA/4u3Lu/iNBEigogTwcPZa65b5TVLL5FJ9AvC0IdjUFNdi5t62zEWbaRioUxswwnnZrHDVITJEPwYceKorsyEBEigBgWW1Ed51XXEhAe8ESuFty1S0PX951HbxsvEdo94vzrJnSMFW9jNI+0nAjcCqJsPAI11xIQGvBOBpQ7DJFN62ixYfm5SOcTMVbY2GoEnLylR62axw1SEyvGwYuVOHurKOJEAC1wmgSQrNpdePcA8JJCPwzCH5Zw5pnJNkJto+f/nGqS8bvWzO57aqCellq+qZZb3SIlDFfOltq+JZzb9OHTXB9nVpeIBA0KTpL5mJNjHsy5b+6axFCdYjj2tBhZUkgXoRQP+2TJul6oW31rV96lB761ZEhzLCJJmINkzzoaXZKVEjfXrZlFqVF/u6oWkUwT4lU5AACVSNALtJVO2MFqM+mKi9sN62TESby2S6gZj9Ypw/WlEgAni6LpA5NIUE0iHQbDal3W7LwsJCOgVUI1c4AparURXWIgkBz2kh2Fy8baue7RibXeqiDV42Y8T6iejkXeACbWwlubMyBJqVqQkrQgJTCGxtbcnu7q5sbGxMicVDSgDCTVdcSMArARdvG3RO6k9ZqYu2uTmx/6cy0vnlyiJfWyL8XCGQ+j/ElfL4lQQSEHBL2lYP28OHD6Xf78vOzo5bJvVJZX9/qQ8b1tSdALxtX1gmx/1pwzKNdfTURZvLNB/v3onLJHfWlWcCEiABEigSgWazKU+eDAdGbm9vy/HxcZHMK6ItHxfRKNpUCQIYSWpbEeuXB9gWkKpoc5rmQ6RHL5vtabSLX+LY/RLbTtPHEFheXh6zd/yuVqsVep729vbGRyj53qYKtm63K+jHBrG2v79f8hplYn4zk1JYSB0J9LTSCLqKvcDb1ood2yFiqqItEGmL5WcQnLpMbmdZCqOXlABFW0lP3Dizm82mQKS8fftWIMS2trbCPlxoHowCmgdxDHEQ99GjR7K6uiqtVmtclqXdF7HAGpWAYINwwzbDTAK4Uc6MxAjeCdQhQ5dWv8dpgklNtA0HIBi7mYI5zUea57oKeR9UoRKsw5AAhBe8SggQYo8fPw6bBtEBPwqRSEOcYarhXxy/um94JL2/7XZbYKPvElqtViheI8GG/L/4wrY7DVIxkAAJeCbQ0/xs+yi0NE1qDxKpiTaXaT74yio91VymEcA/D/6JpsXhsRIQgEBJIoCQHsJtbFVT2Iny0NdsS72Br1+/FnxPWgxEJ/KEB/Fqfr1eL2n2dUqPm+RynSrMumZKwGXQEoPvAAAQAElEQVQmi420LExNtJmGWM9cf3o6x1+qtM50dfKlC6IC53JLxU+z2UxUk8g7lyiTGIlhJ4QVRBaiLy8vy+HhYTglB7axzyYgHwhW5LGxsXEtKZpFEa4d4I5JBNDJ8bUefKthVwNEnK64kIAXAjuaCxwGuoq9pDYgIRXR9vzlUVsCsftFrv40H8KPFwIdzcX2H0iTlHeBOPHl3SkCBTR5YkoLH7ZA/EEA+chrXB7NZvNa02UUD82lOC8I6HuHZk4Isuh4tMY+iDsINIg/9M+D3dgfxRldHxwcjH7ldnwCCxq1raGr4VADtnXFhQQSEcD9xravPa7FVB4eUhFtRoJVW0RBILZQbItg/GoQwD+Qi7u6dLVvtVqhYEBHfNz0ccOHiChdRUYMRj0gcEZ2Jd6EAIJw8s0GwjJOvqgThCjODwRZoD9m8KIh4DsC8kFTKM5p4gozgzgEmhoJXrc9XWNbV1VZWI8cCLgM5X6chp3eRZvLAITAmIP7dxZ7aVSQeVaSANzVlRxJCu9Lu90OxRpEQEuFW3QGIUqwD+ton881yk0rb9iJusB+bPsOEE7IG96spHmDAfLqdDrh9Bsu+SEPBJxPl/RM443AquYEz9uyrrmQgCsB6BMEm/QtjQyPm678Ld5F2/fmHLxsg5NaeE78nbba53SsBNY0YK2rci3NZlMgLtrttrQ1YBveJ3hj4JVBB/tWqzW2Uk1NC0GBdGMjOOxcWFg4H7WJvFGGQzYyLU3kiUJZ0+IlOQa74c2Chwt88N0mPzDvqFBDemzbpGXcQhNoqnXo8/ZQ11xIwJWAS3/q651WXUs/S+ddtAUNY9kBzxz/9+k7F9fjWRW4qikBdPzZLGPdISYgLiDOELANUQNvUZz6ID3SodkU23HSTIoDcQORAuGIOMgP3331E0N+EIIQpcg/i4AywQf1QNlbW1uCfoHLy8vSbDbPA76j/rAtiosm0SxsnFZGU22cdpzHnAl0NOX4pyE9wIUEZhDA9XM8I87Vw94fFLyKthfdP7XsByAE++srS7YgroKZ8p2HKkzgozLWDQLCh93IJxIbEB9xvVgQBRBlkVdvXDoIHeSNfF1sRZ4oA97DPL1WKBt2QODCFtQpCvgOcQfBDCYu9UwjDWwBvzTyZp7CPm68CFwJQKfY9r1vamFeHxS8ijaZm2+rgVZLEHAAghUwRo4I4Frbir6Uaf3pp596NbfVaoXTT0CEwbMEzxFEFwRXFPAdAiUSLPg+SxhAPERpsIZIxL5JxsNzBY8dbIAtccqYlFfd94Nl3RmkVP8FzRcDFHRluTA6CYi4tAquisePV9FmjLF+AwIHIHg8m/XJCk8vqYzMSRshRE+aN2QIOHiO4F2C0IoCvrfbbUH5tnVEGqSFtwqiD4IMa4gzeKuwjRGT2EZTb0tFpG0ZjH+ZAATy5T385pFAS/Nqa+BCArYEepoAXXN0FXtBE+lC7NgzInoTbeHcbBJYGcY3IMw4Ozw8iQA8bBBuk44Xdv/W1pZv2zLPDx46CLlWqyUQoNjO3IiKF1iEvnUVR1zKh76Kn5OyVM92QAJ0UctX5byJNpe52fgGBF+nsVb5QKzhyaV0lYa44c24dKctF4MXFhYEojiXwutRaFOr6e1GqnlxqQ8BTDllW1vLAZqTs/ci2sbOzTa5zPCINqd88cuVxUrOtRVWkH/SItBOK+O0862Cly1tRsz/ggCatC++cSsFAvS2pQC1BlliQELPsp54QFiwTDM2uhfRNjcnMEhsPoEMXDr02RTBuNUkYNdvsiAM0CeMXraCnIySmNFqtcL5/Epibmpmppjxcop5M+tqE9h2qF7bIc21JF5EW8OIXXOVkf6Dux9izpNrBnEHCUwhgCeV0v3QNpvNcPLaKfXiIRIYSwDeNlw/Yw9yZ1ICpfw9SVpppvdCAIMR4HGzycyLwyGxaEPTqFrd0mCz2LoWbfJm3OoSWC5O1eJZ0lTBhlGW6KMULwVjkcAFAVw3vH4ueKSwtZxCnsyy+gQg2GznbINOwoNCIjqJRZtT0yjnZkt00mqcuFmmumNkJW64zWazTGbT1oIRwPWD6wgCrmCmVcEc/nNW4SzmUweXLl4b10y13JFYtDVsX1ulTaOcm83yLDF6RKA0P7CYKw3zluGGGxnPNQm4EsB1RNHmSm9qulK+VWVqjXgwKwJoMYTHzaa8xDOrJxJtYdNoECzbWKxxUVFdcSGBYhFoNpvS1JDEqlarJfCK4K0ESfJhWhIYJfD06VPp9/uju9LeZv4kQAKzCTydHeVSjJZ+a2pwXhKJtu/NBau2JQ/endpW0rYIxq8ugVTvWltbW4LZ/THz/+rqamyK8IC02+1QrEGwtVqt2GkZkQRmEYBYw7U5Kx6POxH4xikVE5HAkEBvuLL627aKfSVyItEWOLy26sHKhxh1ccUMfiWBWASOJVY0t0iffTYc3APBBuGG1zVBhG2pmIMoa7Va0tKA4/gObxqOQ+jhdVE45lYyU5HAZALb2y6zC0zOj0cuEbBt3rqUmF9qT6CnBGydCZ9qGufFWbSFTaMiLbH4DE5PbV//YJE7o9aAAP5BUqkmhBg8ZqOZ4zuEGKZdgCiDQEOAoMN39FvDccQbTcdtEvBJoNfr+cyOeV0mQCfCZR61+eaxopmOInUWbS6jRmUgHeGHBNwJ4Kk4lTsYRJu7WUxJAukQ6PV67MuWDtoo1160wTUJOBJwuYbajmWJs2hzmlCXTaOu54npLgh8ebHpbytqGvWXI3MiARcCl9N88QUbJy4T8frN5Wbr1QBmVgkCuI5sm0iHfXEcqu8k2tg06kCaSXwR2NGM4HHTlZ+l1WoJmzj9sGQufgkcHBz4zZC5jRKwbdYaTcttEhglYHsttTTxggbrxUm0uTSNmsbcvrV1TFAYAgUyBBc6gjeTMKjAW2bMiAQ8Euj3+x5zY1YjBAC2M/KdmySQhAC8bbbpV20TIL6TaDNiOdUHJ9QFawY/BLb8ZHORy6efJhrMc5ERt0jAMwGKNs9AL7LjkNwLFlluVbUsiDbbFqAMRZtp2N7lUKGqnizWKzsCTS3qoQZvC141lXRCXW/GMCMSIIEsCNDLlgXl+pVh20QKHWXdamTtaXvR/ZO2xQZWBQV812j9Lt90aqzXnt+M0Z/Nb47MrZQEaHSdCKzUqbKsa2YEbLuAQUct21pnLdpkbr5tV4g55rtG7Ygx9kQCXr1sKKXVamHFQAKFJNBsNgtpV4mN2lTb4WnTFRcS8EoALYqpN5FaizbTELj0Ytc0CAapTNEQ24ByR6T1lwksX/6a/Bv7syVnyBzSI9BsNtPLvH45ox/bTv2qzRpnSMB2jh7rqT+sRFs41UcgVr8igQxsXYbCDwmMIQBXMsKYQ2670J+NU324sWOqbAjgGs2mpMqXArG2VflaTqwgD2REAN42m6KgpxBip7ESbS5TfZyeztlWIrbxjFgrAlYXdhwybBqNQ4lx8iTASZ+90Wc/CG8omdEUAi5OKqtRpFaizXqqD5HeL1cW2X9gyhnmodgENmLHjBmx1WrFjMloaRFgvtMJwNNGb/B0RjGPLms8etoUApdUCaBPm62jyqqJ1E60WU71EQSBbftuqjSZeakJWPWljFPTjz76KE40xiGB3AhAsG1sbORWfsUKfqT18drFQvPjQgJXCdj248cDxdU8Jn6PLdqcpvo4HdgqzomGZnuApRWMAC5qr82juBnCi1GwetIcErhG4NGjR3zN2jUqTjsg2KiAndAxkQUBW92D6zJ2s09s0WYaxqrdVYz0H6x8yBfnWZxpRp1IwKtgQykUbKDAUAYCeMCgt83bmcrW2+bNbGZUIgIQbWgmtTHZv2iTxtzHNhZoXBiuKy4kkJgAPG2JMxnNgKJtlAa3i04A3rZms1l0M8tgH7way2UwlDaWmoBt17DY3X9iedr2uoe40GMrQaAeDE5t23WRjIEEMiHQbDYzKaeghdCskhGAt21vb4/NpH7Om12rkZ8ymUu9CNg6raCvoLNmUool2k7nvo8MZ2Y2GoFTfYzS4HbRCHz8sa3juGg1oD11IwDv8JMnT+pW7TTqG9urkUbhzLMWBFym/oils2KJNgkGsTKLTkVgzIHTVB9RBlyTwGUCtv0DLqce8w03wDG7uYsECk2g3W7L7u4uPW7JzhLd7Mn4MfVsArhn2U53FktnxRNtc/NWTyZGAg5AmH1SGSM+AduLf2rOaGpCmBqJB0mgoAQg3F6/fi1s4p98gmYcWdDjCLriQgKpEUilX9tM0Rb2ZwuCZZtqnQ4CW2Ntsmfc+hDAk8euVhdBV36WZrPpJyPmQgI5EcA1DOHGUaXOJ4CizRkdE8YkYNuvbVnznXldzhRtJzKPjDSv+Mv/Of2HrbHxM2fMOhCAWOtqRRHaup55IWuc2Euz2Ywd129E5kYC/gjAW4w+boeHhwLvm7+ca5ETmq9qUVFWMjcCLjoI976pBs8UbcZyfrbAmIP1lSX+Q0zFzoMTCECcoac1xNrMi3dCHjN3N5vNmXEYgQTKQgDXM/q5vX37VjDCtNVqlcX0PO3kPSpP+vUoG9eYbVexmf+8oWibys9yfrbg9IRTfUwFyoMTCEBJvdZjqc9YDg+FlsOFBCpFANf16uoqBynMPqu2N9LZOTIGCYwnYKuHPh6fzcXe2aJNZKbyk5FPYBouLsGRHLhZQwJNrTO8a1jrZroLPBPplsDcSSA/AsfHx3kVXpZyvymLobSz9ARs9dCy1hgtTroavzTG7x7ufdH9k5VgQ6rBqeFTDEAw2BDITLDBqI8++ggrBhKoJAGKtpmn1WUOrZmZMgIJjCFgK9og2CDcxmQ13DVVtDXm5qYmHmZx8Rf92Tg/2wUPbsUigD5s6XrYYpnBSCRQDQIUbTPPI12RMxExgicCuNZsp6yaqrumiraBiJWnjfOzCT92BJoaPfU+bFrGpaXZbF76zi8kUCUC6NtWpfqkUJdHKeTJLGtAwLGKtv3apuquqaLNNMzMTnGjlRgMTm2NG03O7foR8Dr/Wv3wscYkcJ0AH0quM7myBzdFhCu7+ZUEUiFg20Q69WUGE0Xbb7pHTQnEziVxKuzPJvzEJIBrK5cfTt7UYp4hRisJgctm8vq+zGPCN3bLmACGu70TsBVt6NeG++NYQyaKthtzdm9BEDHHD1Y+pGgTfmISyLxZNKZdjEYCpSbw2Wefldr+jIxf1nIONTzWwIUE0iSAPm3o22ZTxkSHxkTRJsFgYqLxJQcUbOPB1HbvjIpPdQHPSMvDJEACEwgsLy9zrrYJbMbs3tJ98LrBu6GbXEggFQK2+mh5khWTRZvtpLqDAfuzTaLM/VcJ4Ady4kV5NbLP7+yk7ZMm8yoiAVzjEG5FtK2gNsHrj2mH8LtUUBNrbVYVKv+1ZSUmjieYLNrE2N1UGw3bdlvLOjB6hQjYXVseK44bmsfsmBUJFJLA48ds9bM8MfhN4sAoS2iMHpuArT7C9Tg288a4sOFS/AAAEABJREFUvc+7f9YEgdVTx/8++c7W/TeuaO4jARIggXIQKLCVrVZLWhoKbGIRTVtVo6h2FQIX7wRsRRv0V3OcFWNFW2OuMTbyuAzCfUb66ytLth3twqT8U0sCdtdXLRGx0iSQjADeQ5osh1qmRh+3Vi1rzkqnSQD6CAMSbMoYex02xuZgOQghGAS27bVji+VOLwTKkIntxVuGOtFGEigMgadPn8rGxkZh7CmZIfS2leyElcRcW520PK5e40Wb5SAECQI2jY6jy32TCOCpY9KxVPc3m81U82fmJJA3gc3NTQq2ZCcBHg6EZLmUPjUr4JmAbRPp2JvVeNHGQQiezxWzu0KAnrYrQPiVBHwQgGDb2dnxkVXd86C3re5XgP/62973xk6LdU207XUPF0QCDfEtPjkRW2OEn1oTgKfN9qmjcMDwYu5+vy99DQcHB9Lr9SYGHEc8hMJVpGQG0dzxBLa3t4WCbTwbh73wtFndBx3KYJJ6ETiwrC6uP4RLya6JthOZX74UY+YXc/zLlcX+zGiMQAKXCRR6Xj8IMgitTqcjuBmur6/L2tqa3L59W5aWlqTRaMj//J//U37yk5+E4ac//an8/Oc/nxhwPIqLtAjIZ2VlRRDgIUE5+/v7gnJR/mVc/EYCkwngYWBra2tyBB5xIYDRpC7pmIYExhHo685jDTYLHh4uxb8m2hpzc5aiLbBVj5cMqM4X1sSSwI5l/NSj9/t9gXiCmIIgg9D61a9+FYq2Z8+eyRdffCFff/21fPPNN1NtwVxwH330kUQB38clQD5ffvmlIKDj+LZ6Sv7t3/5NUC7Kh0CEUMSxXq83LgvuI4GQAIR/uME/PgmMbZ7yWQDzqh0BW73UvErommgbiN2kuoPBqe2IiKs28Hs9CeCJI3Ml0mw2x9KGMIJYwhpiamyks50ff/yxPHz4UDCB6a9//Wv5wx/+IH/84x/lL3/5iwwGg3B9eHgoUYj2R8cQF2kQkB75IL9PP/1UkLecfSAQIRQhJOHFg6cOwo5euDNAXIUEOp1O2EQffuEfnwSWfWYWOy9GrDKBry0rd+3NCNdEmzHykU2mxjT6NvEZlwRGCKyPbOe2CSEEYTRODMFLBkH15MkT+Y//+I9QkL1+/Vp2d3cFYqvdbkur1ZJmsxnrfY/ID3GRBqHdbof5IL9utyvIG+IuEna///3vw+OPHj0SiDrYiJAbLBZcOAK4fgtnVDUMWqhGNViLAhE4sLRl+Wr8xtUdYulpE2NsjRB+SOCMAAT/5tl25is0h66vr4fNn6OFQxyNijQIKoim5eXlWMJsNC/X7aaKwJaKQUyQCnEIe2AH1jjmmm+CdExaQALo/4jruICm0SQSIIHrBGz1UvNqFpdEm8vIUb6+6ipSfrcksKPxM28m1TIF/cfQVw3er0iooSkTHq9IpCEeAwkUlQCu36LaRrtIgASuEYCj4trOKTvg7b0k3C6JthPbkaNG8n991ZTa8lBpCKyppbZPIJrEfoFAQyo0MUKoofkRTZGRUIuOIw5DNgT6/X44YrbX6wn6ZyGgyQ8Bzdbwhk4KOI54COiPiLTIBx6o4+PjbCqQYymoZ47Fs2gSIAE7AvhR6tslkWUZ+VwSbdYjRwOxLVz4IYExBHAhr+j+noZUl0iUYY2mRjQ/YjvVQpm5QEDt7+8LhBUEGEbFYpQupj7BAAsMAsFgC4zWRYAIQ0B8eJMmBRxHPAQIOKRFPsgPI3CRP0bhrqyshCODER+iriqnpEp1yfucjCmf97cxULgrMQHbwQiTPW1BMLh0cJZpHDk6ixCPWxCIhNtTizSMWlACEGkQFBBoEGcQUGiOhrCCAMOo2KujdKMpUuAB/eyzz8IRuhgEgj59owFN19iPOIiLdNMwYBRuNK0Kyoeog1CEHdPSFf1Yv98vuolltw/3ww2txCVPh37nQgJJCNj+4+I6PC/vkqdNLN85ajhy9BwkN7wRQBu+t8zKn1H5agCBBFEEcQRhBHEGbybEFYQWBBe8nJjuBCNy0TyNEbPRFCloqt7b2xMMvEAYFWzYRlrsRxzERTqkR16YRgXHUc7o9ClXKULwQFAiQGBePV6G76hDGewssY24WT5R+1+fhbauuZBAUgJ9ywxwHZ4nuSzajLG7YXLk6DlIbnghgIvzoZeccswEIqDT6YTNcRAFCFVrlpuGF94viCcECDIM7kCAuILQguCCt6zdbgtG5DabzbHZgSO4wTsGhljj+ySxgrxarZYgb5SD6VNQLvotYt84EQdRiaZTCM2xRnAnCQwJLOtqV8OhhvEXrB7gQgIxCNiKtktztV0WbUGACzNGmSKINH8itoULPyQwhcDqlGNeDi0sLHjJZ1wmEBkQFvAyoW8VBAZEAQL2w/OEY71eb1zySu2LBFSz2bSeJgWiDEIKTargFnHEGt/BEH3iEG8WNJzv1dVVgfcNIg4iEh4+CMsoLZpPIQrL1qkfbKM6cJ0ZgaaWBOH2WNdcSMCFgO2gO1xz5+Wci7bn3T8vn++NubHGd47GJMVoMQmk7mXDTTymLVbRcONH53cIC4i3SYkhNCDe0HF+Upw674fABcdZni/0iUM8DG6w4dVsNqXdbguaVeGFg4BDUyrOGfrcYW2TX55x07qWM65TWYvbUsPRdKorLiRgRQDOrmOrFCJNOfucizYjwcLZvlirgE2jsTgxUmwCuCiXY8cuUEQIsbien8hsiDYIvOg71yLwQMLjFVc4IR6ElquHDKIHAg5NqRBwaM7FvrKcC9iKUBZ7K2gnBimgybSCVWOVUiZgK9rO743nos16uo/BYPpbs1OuMbOvHAGItuJUysISeM4g3CyShFEh3CA8wi81/wMOaFJ2wQDh5pLuappms3l1V+G/Ly8vF97GihvY1vqxqVQhcLEiYDvtx7lT7Vy02U73ofHh4rOykpFJYAqBUt590EznItjAAUKF3jaQEEnCEfyRfphTvf6iv169alzI2qKptFVIy2hU7gQmGGCrn87vjxeizTSsHjM53ceEU8HdrgTOnyRcM4iTzndzkm2fqqs2og/X1X11/J5UvHY6nTpiC+eyq2XFi1dpNJNm8htWvKrTIgcCtqLt/aiMRrRhjDnfGe2bumaftql4eLCYBN5/3+4yn1ULDECYFWfacXiJ4HGbFqfqx1B/135pEZuk5yHKp2xrPIS0Wi0Hs5nEMwE4PdDHzXO2zK6iBGxF23VPm4g53ykxPsHJ6XGMaIxCAnEJlPJ6Sio2AAeiBeu6hrrXP+l5x4TDSfNgei8EHnnJhZnUgYDttB/nXtxzT5uI3ejR/5Z3tkqxDieCdXQnEF5P7snzSQlPR9KSm81m0ixKnd4Hw/c9e1DLBBSeNoyCLZPNFbUVN1a6PSt6cj1Xy9ZJcX6TCEXbb7pH5zviGWaO11eWbAuNlzVj1ZWA7ZNHITiNm2XfxrDRSV5t0lUpLkQbXnGVpE51H0WJyYPrLv6TXD8e06Y+16RHW6ucVdHrBv2EYGNnqNNC0TYvJ+GXuKkDI6X0igg/RSaAawqhyDZesy3p6D16SIZIk3LA+0yHOdXzL4QvXg9Wz9oXqtb0tBXqdBTaGHfRZubm4NaNXTsTBLaFxc6bEWtLwOoadKWEm5tr2nHpIBZcvUTwjCD9uHzrtg/vBnU9N2CIJsJSMEvRSDCgcEsRcLys4QDJ5LcsnjmMVWACtnO14dqS0NNmRMIvEvNj6GmLSYrRLAjsaFyr61DjWy+uwmBSQcgPM+pPOj5pP9JhBv5Jx+u2HzxcOtRD+LqkqypfeCwp3HI/u6n/juVeQxrgg4Ct82sBhYaiLQgGVhfZ4JRvQwC8CoW8q4JRV6XtC4L+VL///e8FwiMOSAiNbrcrWMeJX5c48LbZCDDwg/DFui6M4tQTwu3w8JDXVxxY6cSxup+mYwJzLQEB2+5A4XU1FG2msWBVQWNsFaJV9oxcKwK4EEs/vxH6tv3Hf/zH1MlOIeogTBAv6QCGql4hEG1//OMfZdoADXBEPHCkYBt/JYDL69evBZzGx+DeFAnY3U9TNCT7rFmiBQFb0RZOMtpAAcaYj7COGwYitoUJPyQwgQBeAQPhNuFweXbjRommKYiOX//61+ENEyINN058x36M8oPoKE+tsrcUHOGJjHiBXxTgWcN+fCfH6ecGfLa2tgQ8p8fkUc8EeH/0DLSi2R1b1iu8T4aiTYxZsEncoKfNBhfjTiaAi7C0zaKTqoWbJJqoICwg0rDGd9xEJ6Xh/usEwDESvWCIgM72Lhyv516PPZ1OR/r9fj0qy1qSQLkI2P5j4n45HIhgO7Hu/InYFib8kMAYApkPj4cQGGMHd5FAJQlsb29Xsl4Fr9RBwe2jecUgcOxixtDTFkio4CTm51i+cyosZvY1ilb7qq7WngABkEBKBPCKNXrZUoI7OVsINt4fJ/PhkQsCttdJqNMae91Dq6ZRlMe3IYACgwcCH3vIg1mQAAmMIfDs2bMxe7krZQIQbSkXMSZ77iojAVvRhjouNL6T9+xEG+doAziG5AQwzUf45JA8K+ZAAiRwlUCv17u6i9/TJ0ClnD7jKpVg29VsoWH9CisxLuqwSpBZl+QEINY2kmfDHApOgOblSADNozkWX8eicQOmUq7jmXevs62eag77tFkUyFdYWcBi1EkEMAABwm3Sce4nARJIQICCLQE896Qc9eHOrq4pbUXbQiOYm7e6eQZB8NfS02UF8ibwOA8DOFVEHtRZZh4Ejo+P8yi2zmXCy9apMwDW3YnAN5apFqw9bY2GeWtZCKOTwCiBZf1i9aCg8b0sFG1eMDITEiCBMwIjq5WRbW6SQGoEGiYYWN1AB6cDW2WYmvHMuJQEINpKaTiNJgESIIExBNAsCk/bmEPcRQJTCdheN/Z92qYWz4MkMJsARdtsRgljMHndCdCrnNkVAMG2lVlpLKj2BBpijJWnTeOzs0TtL5tEAOyut0RFMTEJ1JNAs9msZ8WzrTUFW7a8q1iarZ76qGFLIZCBbSHnRXCDBJTA+xq4eCSwsrIiS0tLgjVHDXoEW+Ks4GmjcEvtBOIeuKm5b2ngQgJJCOBaskoP0WY1uW4gDetCrCxi5KoT4Ohjz2f4r3/9q3zzzTfy5ZdfCkcNeoZb4uxWV1dLbP1U0/M+uK8G7GjgQgKZE2gYY6w8H5qAoi3z01SpAnO7fqrqeXj79mJAd1XrWKn/gIwq89lnn2VUUu2KaWuNMdekrriQQCICHIiQCB8TZ0Gguu/my4LemDLgZYt2U7RFJLhutVrC6yG16yCXuSZTqw0zLg2BRmkspaFVIUDRVpUzyXoUnsDjx9QWKZ2klua7oIELCSQhMLblaUqGCw0xYjXMaP5EbN15wg8JnBHAj9zy2TZXHgj0+/3zXJrN5vk2N0gABNrttiwvL2OTwT+Btv8smWPNCDiItpoRYnVzI4BH/kMt/YkGLp4IcOCBJ5AVzubJE1//chWG5FY1dhp048ZUCQg0EqRlUubILTYAABAASURBVBKIQwDuHzSJYng8PG1x0jBOTAKjou2jjz6KmYrR6kSg1WoJhVsqZ5wuzFSwMtNpBCjaptHhsaQE8KP2WjP5WENqCzMmARKYTmBjY0M2NEyPxaOWBPAQiodSy2SMTgLuBBoSiNVFdyzf2bbBCj+1JADB1tWa44dNV/kvCwsL+Rvh2QLM0RZlWcX6RXXjOjkBeNso3JJzvJJD9X5UrlSwRl/zqKqtnlqw9rStryzZFpIHCJaZLwE8COypCYX6QauiqBmdo62K9dNriItHAhBuHFHqEahIoX7jhJ+yEbDVU/airWxEaG8uBOBhg3DLpfA6FUpPWw3Otucqbm1tyeHhoTSbTc85MzsSIIG0CVh72tI2iPmXnkBba8C7gULIYhkdiEBPWxbEq1EGBBuE2+7urnBKkETn1NZTkqgwJiYBijZeA64EJqXD1B6TjnE/CZBAgQhgHrfXr1/L6upqgawqlSkYGV8qg2lsuQlQtJX7/BXNenrZMj4j9LRlDLyixfV6vYrWLNVqUbB5wctMbAhQtNnQYtxZBB7OisDjfglQtPnlWcfcDg4OZPQ6qiMDxzofOKZjMhI4J/Bg/X+JTaBoO0fHDQ8EWh7yYBYkUAgCdTGCgs35TD9zTsmEJHBG4MGv/h+xCRRtZ+C4SkyAgi0xQmZAAtkTGH1/bfall7ZEvPSXbcqlPX3lNZyirXTnrrAGLxTWsjPDMGLubJMrEiABEkhCYDtJYqYlAVcCFG2u5JjuKgFO83GVCL+TAAlUkQC8bJ3SV4wVKCUBirZSnrZCGl14T1shqdEoEsiZwM2bN3O2oHTFr5fOYhpcGQIq2ozV5IC73UPenCtz+r1WBE+fXjNkZrUkwEpnTODjjz/OuMRSF4dmUfZlK/UpLI7xew56qiEmsBJtC/IeRVtxznmRLLG6jopkOG0hgToTQF/PhYWFOiOIW/d9jbilgQsJeCHwna2eMtJveCm5DpmwjrMIcM6iWYR4nAQKSmB5ebmglhXKLCrbQp2OehpD0VbP855GrdE8Sm9bGmSZJwmkTODhw4cpl1CJ7L0o20qQYCVyI0DRlhv6ShbMySYzPq3NZvO8RM63dY6CG5YEVldXhU2kM6HB07Y8MxYjkECKBFS0GSvvyDs5xYWboknMusQE0OejxOaXz/TRG20y0Va+utNifwTwKqvRa8lfzpXL6eIpqXJVY4WyJjAvJ3bXUyD9hgR2AxHM/BxFW9ZntjzlYVQVQnksLrmlzWbzvAa48Z5/4QYJxCCAV1htbm7KysqKUPTHACZy8Q8n/JBA9gTU05Z9oTYlMm7pCGBIfOmMLqvBn3766bnpX3/9tfR6vfPv3CCBaQQg0m7fvi07OzvTovHYZQKfXf7KbySQLYFGEATf2BQZBKd80rABVr+4UA1Pi1jtKjb/oE6jwu3LL78sInraVDAC/X6/bt41X2egpRktaOBCAokJmDm7lkvVa3+lpy0xdmYwhsCG7ivcFCAQOGpX5ZZvvrl47uLUDZU7vd4rRMGWGCmEW+JMmAEJDMRYPQA0GuattWgz0rAqRPipK4EVrXhfA5dpBBIee/bsmeAmjGzQv+2zz9h6AxYMkwmw/9pkNjGPLMeMx2gkMJXAnATWegoDEexurIF9IVOt5sGqEsCo5NtauZ4GLikR2N6+6EJIwZYS5Apli+slEvkVqlbWVfko6wJZXjUJDCz11OB08E1jAoqJuwMHZTgxMx6oOgEIN3jcLpRF1WucYf1GvWwo9tGjR1gxkMBYAhBrW1tbY49xJwmQQDkINALTsPK0zc3NvV+OqtHKAhHAnWKpQPZUwhR4TaKKYEb7ZrMZfeWaBK4RGL1erh1MbUclM75ZyVqxUtkTMMbqRzswQb+RvZUssaYErC7OmjKKXe2rXrbHjx/HTsuI9SMAL1un06lfxdOp8dt0smWuNSRg36etIcGxDaggEN58hR8HAm2HNKklKXvGnU7nvAr0sp2j4MYEAr1eb8IR7nYgcDFc2yExk5BARMAYY9VyacxcvxGcnh5HGcRZB8ZYK8M4+TJO5QlczAJb+aqmW0HcgL/88mI+trS8bCgn3Zow96wIwDObVVk1KKdw0xnVgHlRq5jMLgc91TiReas+bYYDEZKdpHqmhtCnh9bTuR+9AaflZUNz2s9//nP5yU9+IqPleaoCs8mYAF9x5hU4RZtXnHXOLMC9MTaA+RPpN96T76w8bcLm0diAGfGcwPL5FjcSEYCYGhVRaY0YjTx5KG99fZ3iLdFZyyHxSJEQbMfHxyN7uJmAAASblaMjQVlMWnUClnrqWPVaY21lyfq/ebd7aKUOq86d9ZtJgF62mYiuR9jc3BTccEePRGIK+z7++GNJ6w0I77//vnz00cV0VJF4g4CjAJBSfXi+vJ6uQr6iz2sNmVkmBPYcdNS66rVGaJ0RqyeHBXmPok34cSDAJDEJQLA9ffpU0EQJwRQl63Q60aZsbGycb/veWF1dlcPDQ/n1r399SbzBy/fTn/5U+v2+7yKZX0oE/vrXv6aUcy2zxWSIbDmo5an3W+nvbHXUmU4bijZLW97JKUWbJTNGJ4G4BLa3twWCDfHhJfniiy+wGYZRT9unn34a7kvzT7vdlm63K+g7F5XT7/evicnoGNckUHECEGyvtY67GngfVAj5LOUvdV5OrFqgAjHHqPVQtAXSF4tPMNewKswia0atJgH0A6lmzTzXCoIIoi3KFn3WEPC91+thFQY0jTabzXA77T8oZ3d3N/S6LSwshMXBzqtewPAA/xSOAJq6C2dU+Q1qaxUg3rL5J9TCuFSLgJmbG/6YxqyWCYIL0RYEgdW8M0YGVoXFtInRqkvA6qGguhhm1wxCKIoFYfbkyZPo66UmSQip8wMZbcDr9oc//EFGhRv6uGVUfCmKKaKReVwrReSQgk0QbF3NF2tdcSGB+ASMiNV1Y0abR00wCBWcxPyYwFgVFjNbRqsuAVxfB9Wtnp+aPXv27FyYQRjt7e1dyvibby6erdIagHCpwDFfUO7vf//78yNffvmljHoAzw9wozAEINpwPRXGoGoZgnshhVu1zmkmtRkEwYJNQaenp2Hn1AYSGcv3jzbmGhfDypABQ8EJFMK8i45ZhTCneEZ0Op1zo9Akipvt+Y4CbbRaLRmd0Hd7e7tA1tGUcQQgtsft5z4vBCDcLj9hecmWmVSagOV7RyOdFoq207MObnEBDQYBX5gbFxbjRQR2og2uxxOA1yo6MtrxP9o3usYAhdHvWW9DVEZlfv3119Em1wUlgNHABTWtKmYta0W2NFR7Ye28ETDGWDm/BiJhN6NQtJnTk/CLxPyYhvk4ZlRGI4GIwLFuXPSk1y9cLgj0+/3zL81mU5oaznecbYzOm3Z1/razKE6rXq8n6Ju2tLQkjUZDbt++HY5enSYM0dyGgAIRb9R+7GMoFoFZDwHFsra01jxWy5sauJDAbAKWr7BqGHOMTEPRdmL5KisJzAISM5CAJYF1jR9eeLrmMkIAIi0SQRBA6N82cjjcHPWWwCuHeOGBBH/QtInBDygv6jMHzxnmiZs2HxvKhliLiob90XYOaxY5gwCuLQwkmRGNh5MTgHBLngtzqD4By7ch4BVWgBKKtl+uLF485mPvzBAs8K0IMyExwnUCuM7YAeo6l3DPZ599Fq7xB54vhP39fYnEEW68o3Ozra2tnR9DGtsA4QXRNikdjkPQYX01DkRetG/Upmgf18UjwPOUyTlZ1VLo1FAIXCYTGL4NwW4gwtqZTgtFW5j12XDScDvGH74VIQYkRhlHYEd37mvgcoUAOvePNoFCGP3qV786n2ID0UenAIFHbGVlRfr9Pg5Zh6vpMBfbYDC4Nh/b+jocpBfZI100+S/2ttttrBgKTADi/Op5LLC5ZTYNgo3/EGU+gxnY/k5uWDajm/MWqgvRZjkY4Z9zwXIGdWMR1SQAFcApQK6c22azee3tA5irbTQaRgFeFW4/+clPwj5pEFOjcWdtIy9476J4uLFDKLZaLZk0rQeEIrxvkfcPNrO/VESwmGuc162trWIaV02rLlzmnurHbKpFwEgAcW9RqeD8fnku2oLBwGoImCZsWpTIqCQwSgBPDSu6gx43hTC6QATB4/XHP/4xnFZjdXV19HC4jZGb8MqFX87+QGxBvGEQATwq8IRhgME0IQfBNpoP4iIt8vm3f/u3s5yHK7xKC3mujHj2YCsm2x3G4N8iEqBgy+WsLOdSKgstDYHG3JzVNRIEQThHGyqo2gsrEdsJdoNgQNEm/CQgAOG2pumx1hWXUQLNZjMUbRBoo/ujbYgtCLvR5lQcgycMAg4DCeARgwDDiFCEpaWl0COHeFFA/ldfCo9jkScN2xB3CMgz2g/79vb2BGvEYSgeAVwL9LDlcl4WtNSmBi4kMJaArX7S+Od9YM5F28DMnbvfxpZyZacxDV6UV5jwqzUBuJHwA2edkAlEIJgODw8F3q44TZQYHQpv2lV27XZbkA/EGzqrQ6BFcfC92+2GAjISiGiyRZlYR/G4Lh6BcV7a4llZWYt4f6zsqU1escBSP6neui7aGhJYeTxMgedqS46UOWREoJ1ROZUuptVqCZpUMYgAYgpeOIxEheCKhFYcABBvEGh/+ctfBAH54XskzlAGPHPYB8EYJ0/GyYcAmkXHCfR8rGGpJEACowRMw/KtUsacO9UaUUbvTi92RvumrjlX21Q8PDiTwILGYIddheBzgYCDaMN7SyGu4EGD+EJAcyqEV5zyRr1tUXzkjUEQ445FcbjOnwCasDudTv6GlN8C1oAE0iEQBMs2GQcnp8dR/HPR5jJX2173iC7giCTXtgSsLlrbzBn/OoFmsylNDdePcE+VCGBuP3rZqnRGWZcqEfiNg256sPLhdU9bCMVyrjZO+xFS4x83AstuyZhKiIAEphDAQJQph3koGwLnfZCyKY6llIXAvJw0bWwNRppGke7c04YvwSDgtB8AwZAFAasLNwuDWAYJlJ0AmkZ7vV7Zq1F2+9GURdFW9rOYkv22032YIMD1dG7NJdFmgoHVhRZcnvbjPFNukEAMAgsx4jAKCZCABYGDgwOL2IyaEgGehJTAViFbW900GJxecqZdFm2mYSXajOWw1SoAZx1IgARIoKgEMDdbUW2Lb1fpYz4rfQ1YgfQINOY+tslcddYlXdYYTRyIXDooMz6c9mMGIB6eRuCSy3daxLofQ6dydC7vdDqCqRzw1oK1tTXB2w8wYS6CMUaMmR5u3rwpiIt0eLMB8sCEucgTefd6PaGnptxXG66VctegEtb3KlELViIdAkbsugZN69NmP+2HNHe7h2zmEn4cCPQd0iRKgv4+STJIOy3sg3DC66LW19dDgWWMCdcQWNi3tbUlEFgQcRBYuEkjxLEN+SMu0qEc5LGzsyPIE3mvrKyEQtAYE65RJgQd4iFNnDIYJ18COMf5WlD70jtKIPPfNi2TSwkI7EEvBWIl2v73yXcHMvKmtLakAAAQAElEQVS55GkbTvthjkeOz9z8F7lhZcDMDBmhLgR6WVe0aDc02ANBBG8XvF/whEE4bWxshMKs3+9njei8PIg02LalIhHibdQ+2Nvr9QT2nyfgBgmQAAhs4w8DCYwjcCLzmDVh3KEJ+8zx+srSJU12SbSFqYzY3SnmxNII4YcEQABPD5cuRuyseoDQgScN4gwiDYII3q6Dg4PCVx22Q6zB3sh+rOGNw/7CV6AGBnLi41xPMgSb3f0zV3NZeNYEbEeOigTXbgzXRFswGFwaqTCzUoFQtAk/jgRq0WEXYmdUqMGTVhWRg3psqTcO4g395dDMin2O1wOTJSTQbDbdc2DKJAQg1raSZMC01SdgO3JUxjjRrok23XFN2U1D2bAcCTEtLx6rHYH9KtcY4gVNiRAzVRJqk84ZmnM7nY5EAg6TvGLfpPjc759A9J5Y/zkzxykEINhWphznIRIYErDUS8GYuXNVow3ziv4GIrgAJf7HLMePy5gkcIlAT78h6GriUroDvV4vFC4QL2hKhKetdJVIaDDEWrvdDgdRwPuG7wmzZPIYBJaXl4VNpDFA+YvS16wg2LDWTS4kMI2ApV66MnIUOV8TbXOn/+jhQPwQLPAdpPFpMeYlAk/0W0tDJRbMkQWhhgDhVolKeagEvG/wNqLvm4fsmMUUAhBsEG5TovCQPwIQahRs/nimnFO+2f+me9QUCaxm27g6chQ1uCba1sKRCuYYB+OGf84Fy3HjMh4JKAFcuF1db2ioxALB1mq1hGJt8unc2toKPW/9fn9yJB5JTODx48eJ82AGMwk81Ri3NfBiVghcZhOwfeeoiLk2clT0c0206T4JgsGXWMcNmkkzblzGIwEl0NPQ0pDpklYzJUTI6uqqpJV/ppBSLgys4InEOuWiSpO9b0NbrZY0m03f2TK/IQH8dsG7hgdOK+fGMDn/1pZAo9Gyq3swdnxBY1wmJhjYPj1YGjOuVO6rCQE0iVq9xsMXlzREFfLMS4SgKQw3Z9yk2+22tM8CBj1sqVcLIdq3uroqrVZLlpfz7/MEwYZ+br7OK/O5ToDetutMPOxZ0zwg2Hq65kICdgSMWbZJMLjyztEo7VjRNjBzYxVelOjqmq+zukqkCt9TqUNbc93QUJkF/bQgQtKsEIRWu90WDGrY29uTw8NDefv2bRiw3e12ZXd39zw8efJEcNNGiPYjHeK9fv06TBcEgWAb+7dU4EHULS8vp1mNS3mjGRmC99JOfvFGANdLS0W6twyZEQgs4A8DCbgQsNVJgWn0xpXTGLfz9FTGRpZJn4Cvs5qEhvsvEahUZxuINQipSzVM+GVhYUEgoJAvRBbEGcQVxNejR4/CY81m08sIweXlZUFZEHcQbygH5WF7Y2NDlvV4wuoweY4EcM0s6PWUowlVK/rTqlUok/qwEHF5fZU5Hd/iOVa0ubzO6v+a+36L54YEphBo67Gmhsos8LL5qEyr1Qo9Y5FIg2iCQMP+rG+6KA9CDt46iDh48nDzhy0+6hrl0Ww2vQjPKD+urxPAPHn0Zl7nkmBPK0FaJq0xgROH11c9WPnwYByysaJtGHF8J7jhset/TTDgBX0dC/dcEHh8sVmNLTTxudYEIggeLogiiLUtbaLEPtf80koHcYWmNtgIWyHgsC9peQWoa9IqFDo9HihwTRXayPIZ1yyfybS4EAQ8DUJAXSaLtgmd4JBoXOCbEcZR4b4zAsu6zv0HD82Zaoe3xTY/eLHQ7AgBhICbarPZ9GZP2hnBVgg4iDfYj23XMiFYXdMy3XQCeJjAtTU9Fo86ElhwTMdkNSZgGg2rpvVJgxCAcKJosx2MIGI3MkL4GU+gmnsr6YWFiIlzuhAPIgViB82OVfAyoQ7wuqFOtuINLMAkDjvGsSfAkbn2zCxSULRZwGLUiICdPpo0CAG5TRRt1oMRJFjgmxGAlGEMgUqKNvQ7G1PX810QJp1ORyBs4PmAp+38YEU2UEcb8fbw4UMBi4pUv3DVQLOorQe4cJUotkHHxTbvwjpuFYPA8+6fl0X1kY01g1Mztj8b8pgo2lwGI7ybO20hUwYSuELg/SvfK/EVTZ3wnDWbzUv1gTjDfog1iJRLByv6BQwi8ba8vHytlhGTjorYawe5wxsB8vWGclJGx5MOcD8JjCUwN3f9B3FsxLOdRvpD/XX2/cpqomhDvMDyzQhzjTmrdluUwVALApdVTU5VTsMDAeEGcYY+Xhj1GQkX7M+pmrkW22w2z+d/w7QlCGADRkMmuZpX6cI7KojTuMYrDc2uchO9H3bZMHadCBgRK2dWMAi+limfqaJND/ampL12KLA07loG3EECJSWAPl6YKgP9u+BVKmk1vJkNFmg+RgAbMvGGdmJGmOJj4kEe8EHgGx+ZMI96EbCdVFfpTNVdqss0yoRlYIzdk0WJJ9mdgIC7SaAwBDDnFjqZI2xubia26+DgQJAXwtOnTxPnxwzyI4Bro9fr5WdAPUrer0c1WUtfBH7TPWpKECxb5TdDd00VbfMn3x2ImGOx+HCSXQtY9Yk61d2bFQbc2LIqK61yvvjiC4FHBSIr6U0aeSAvBAi4tGxmvukT4PlLn7GWEEcVazQuJDAkcGPOUrBpsvt3FqdeZ1NF29rKkgq2QIWb5hRz4SS7MUHVK1q/CNUtu2hDE+Nnn312jvJXv/qVuPZhwihDiLUos7oMmIjqW7X1118X4rmoalhH69PRL4X4HVM7uJSFgP1LB6YKNlR7qmhDBLGcZNfMzXMwQgiOf0YIsFlhBEaSTYxK/eijj8IsINh+/vOfh563cMe0P2fHIFzRtArRdrZLon5n0Xeuy0cA57V8VpfK4u1SWUtji0HAUg8NYuit2aLNNGYqv1E6Rttvd7uHnIBwFAq34a1Vr23+IMp+c4O3DaNUsQZNCDf0SUOY1kSGesOz9tOf/lTQLIq0CB9//LFACGKbgQRIYCwBetnGYuHOaQSGL4kPrPqzmcbcTAdHY1qhODZ3+g8r0YY0Fv3aEJ2h+gQg2ArR0x3ipey4MQ/aH/7wB4k8bqhPJMh+8pOfhIML4EmDOMN6bW1Nov0QeYiPgCZRTMeBbQYSIIGxBNAkSi/bWDTcOY3A6dz3W9OOjzv2v8NxBOOOXOybKdrCfm0zRjNcZDfcMvbtuMOE/FtlAjtaOYg3XXFJSgDCDYILwms0r36/HzaXQqxFzaAYvDAqVuGlg3cNc8phezQ9t8tJgOcxtfOGYdr91HJnxpUlEIhZtalcoDprPRxHMD3VTNEWJj89+TJcx/zTmJu76C0dMw2jVZ4ABFvu3jaImqqQbjabAuH1xz/+USDeZt244ZnDez8RH/3YqsKB9RB5//1KvnQk71MLD9t+3kaw/HISsJ2fLYips+KJNst+bcL52sp5laVv9Y4Wgf5tuqrHkkUtI/H2l7/8RdBsCi8axBmEGda//vWvBUINbyXA91niLgubWYZfApjA2G+Otc8Ngm2r9hQIwImAy/xsQUydFUu0ufRr+5e5G1auQScyTFQ2AvC2ranRuTU3fPPNN1p8dRfcvCOxFom3drstEHbVrTVrhvNLMe7lOoh+oyjYvOCsZyZzc2Ldn+3/TB8/INEnlmgL+7WJWA1ImGvMceoP4WcMAQi2XIXbGJu4iwRKTwDivPSVyL8Cz9QENokqBC7uBIyIrWjrxenPJvqJJdo0ngSDgVW/tiAwq0jHQAJjCKCJdEX3Q8DpKrul3+9nVxhLIoEMCYxOvJxZsdUriM6G6p3TzGtkGmJ1HQ1izM8WVSK2aJNGw8rTJhIsvHh1ZKs2I7u4rj4BqKfbWs1MByeMjqLUsrmQQGUI8K0IXk5l00suzKS2BJ53/7wsgVhdR3HmZ5OzT+NsPXM1fB+WQXv/zLjnEQYDirZzGNwYQwDX04buX9KAZgldeVkmZkLRNhEND5SYAKZ42djYKHENCmP6QmEsoSGlJDA317DUPeZ4qK/iVbcRL1oUK0CzVvRl5to0GlYuwpkZMkJVCcDr1tbKQbyt6zq1hc2jqaFlxjkRwCTKW1tbOZVeyWKtvCSVJMBKnRGwXwXGfGaTKgjsup5ZiTYTBF/YGKNxW3yllVLgEpcAxJvVg0HcjKN4FG0RCa6rQADXMz1s3s8kfoe8Z8oMq08gnOpDxMrTFsjAauCLlWj756mxylz0w6k/FAIXGwJNm8i2cXGTs03D+CRQNAKRPSsrGM8TfeOaBEggTwIuU32cns71bGy2Em2/XFnsi5G+WHw49YcFLEYFgdT7lFC4ATND2Ql0Oh3htez9LB54z5EZ1oaAkcBu1gzVU6GusiBkJdrCfE9PrZpIOfVHSK0mf8pRTY6yK8d5opXTCWDwwfQYPOpAgKLNARqTDAkYY92P38rLhlKsRVvQmLNsIuXUHwDNUBwC9E4U51zQEjcC9LK5cYuRymo+0hj5MYoLgRKmedH9UwtTndmYHgRiPWuCtWibP/lOn0TMsZVhg1M7l6FN5oxbNQJ6faVbpYODg3QLYO4kkDKBL76wavBI2ZpKZW/t+ahU7VkZdwJz85gBwSK93VQfUcbWom1tZenYeohqY/5hVCDXJDCDgFWfyRl5jT3c6/XG7udOEphBoDCH9/f3C2NLhQzpaF1S//3RMrhUkICxfAuCrY6KkFmLNiQMxFj+YrCJFNwYYhGAFzdVVYXmUU6yG+tcMFIBCfR6vQJaVQmTtitRC1YicwJh06jlWxBsp/qIKuUk2m6cfmcp2rQ4vh1BIaS0VC/b1PuVfPll6kVU76ywRoUggIeOQhhSLSM6Wh162RQCF3sCpmGsu4DZTvURWeUk2tBEqhlYPe6ZuQabSBUal1gEdmLFShCp1+slSM2kJJAfgW+++Sa/wqtZMsQavWwiUs3Tm0Gt5uas3oKgFvVsp/rQNOHiJNqQ0vrtCOo6fPHqqIW0DCQwgwCaSK1H1czI89JhirZLOPiFBOpMYFMrD+GmKy4kYEfgeffPy6L6xibVIDh1vr85i7bG6T86NkaGcdlEGmLgn1gENjQWxJuu/C8YQcp+bf65ppMjcyWB1AjAw2bf3Sc1c5hx2Qg0GmI5alTEtWlU9OMs2thEqvS4pEkAgg0/qKmV8eyZ88NOajYxYxKYRWBhYWFWFB6PRwC/L1vxojIWCUwgkGHTKCxwFm1IXPcmUjBgSJUA+rY9TasETpuQFlnmmyaB999/P83s65A3HgjXtKIUbAqBizsBl6bRIAgSTbKYSLT989TYu5XZROp+hdQzJZpJU3GJsYm0nhdU2WvdarXKXoU87ccIpNtqgP29SxOltDDbkhIwc3O4P1lZf+Kim0ZKSCTazkY/4J9gJMvpm6Yx92h6DB4lgWsE2roHTRm68regTxtnlvfHkzllQ6DZbAqbSK1Z4z61oqkQOOhAQXBJTsDYTqhrzMGZbnIuPJFoQ6nWTaTCiXbBjcGaAJoy0KTh9Qe30+lYG1KbBKxoYQm02+3C2lYgw47VFowMvalruiDTQQAAEABJREFUiDUIN93kQgLJCThNqDs4SdzdJ7FoaziMIg34LtLkV0w9c0CTxpJW3ZvXrdfrCTxumicXEigNgc8++6w0tuZsKPrFQrzlbAaLrxwB63eNJhs1GvFLLNpcRpE2GvMPd7uHrkOgItu5ri8Br9fO06eJH37qeyZY81wItFotaWnIpfDyFIrfiWZ5zKWlZSJg2zSqdXOeUFfTni+JRRtycmki/eH8e8tIy0ACDgQ+dkgzMcnOzg69bRPp8EBRCTx+/LiophXJLgi3CfZwNwm4EXj+8qgtGU6oO2qlF9Hm0kRqRPiLM3omuG1DwKvgR/MoByTY4GfcIhCApw2hCLYU2AaKtgKfnLKaZiRYtbX99HSuZ5tmXHwvos2liVSNabGJVClwcSHg/Ye40+m42JFKGmZKAnEJ7O3tSbPZjBud8UiABBIS+E33qGmMsepUirnZko4ajcz2ItrCzILAumPQDxvfs57jJCyLf+pMIJU7VK/Xk56GOoNl3ctHAFN/QLhhXT7rM7H4OJNSWEhtCMzNSUssP4EMMIjOMtX46BaibXwG0d6503/0RIzdP4j96x+En9oTsLvGLHBtb3sblGpRKqOSQDICy8vL0u12hcJtLEevUwSNLYE7a0Wg0bDt2mWOH9z9sOMLkjfRFjaRDk6sZq43QbD84tWRtWr1VXnmU0oCEG0I3o3v9XrC95F6x8oMMyAA4fb69etyNJVmwOOsCAi2VH4rzvLnqmYEXOZmExN487IBtzfRhsyCxpy1cZyzDeQYLAngx9gySbzoW1tbHEkaDxVjFYxAs9kMPW7tdrtgluVmTi+3kllwNQk4zM0WBGLlzJoFzqtou39nsSdGrG6onLNN+LEn8KV9kpkpwgj9fl84b1uIgn9KSADCbXd3NxRvrVarhDXwavIXXnNjZrUmsNc9XLAdgAA9FOoij+S8ijbYFZwOLFVlsPDDue+3kZaBBGISsPboxsw3jIZ52yDewi/8QwIlJNBqtULhhr5u8LxBzJWwGklM7mviVH8nNH8uNSLwbu69VZFgYXaVL2IEA/sBmhepx295F23zg3/ujC9q8l5r9To5Kx6pB4EDrWZqfVUwb9v6+roWwYUEyk0A4g2et8PDQ0GAiMNDydbWlmxpWF1dLXcFJ1tv6TyYnBGPkAAINBrmEdY24eTU7NvEjxPXu2gLBySI9MTu0+KABDtgNY8NwWY9xYwNMwxKYDOpDTHGLToBeNtarZY8evRI8DYFBAg67C+67Zb2wcvWsUzD6CQwkcBwAEKwPDHCmAM+52Ybzd67aEPmgYj13AkckAByDBYE4NGFeLNIYhd1Sz0R/X7fLhFjk0CJCGCaEAi3Epkcx1Tcf/iPG4cU48Qj4DIAQfzNzTZqZCqibdjxzljdUDkgYfS01Gnbua64vvDj7JzBrIRoJl1bW5sVjcdJoNQE4H3b2NgodR1GjIcHnl62ESDcTEZg+AYEeWiVi5H+A49zs42WnYpoQwHqOcM/DzZjhmCBb0iIiYrRIgI7upFq35WDgwPZ3NzUYriQQHUJPHnyRCDeSl7Dr9X+LQ1c6kggpTq7vAFBTelpSGVJTbQ5DUhozFl39EuFCjMtEwG4CA7SNBgdtznpbpqEmXcRCOB1WJiktwi2ONgAwdbSdPDA64oLCfgh0LB+A4LIu3f2XcTiWpuaaHMbkBAscEBC3FPHeGcE8CO9otupCjc0H8HrpuVwIQEbAqWJi/5teKsCrvXSGD00FN52CrYhC/71SOD5y6O2BNIUi09aAxAiE1ITbSjAZUCCEXmMtAwkYEEAwu22xk+tj1vUv63f72sxXEigugTQVIrBCc1ms+iVxP89+i601VBs64oLCfgj0DBi15dNix6IpNqnMlXR5jIgQUQ4/YdCSH2pZgHozwLxloqygmBbWVkRrKuJj7UigSGBdrsdTs5bUK8bBBoe0JbU2h0NXEjAOwEMQNBM4cHVVczFSP8Xd295n5tttPRURRsKsh+QIGIc1K3wQwJDAmgmxY85mkzRbIIf+OERD3/7/b5gRCk8bx6yYxYkUFgC8LQhFMRA/B+jc/em2oP/bzygYZ9+5ZIngaqWPT8nuMbE5jMYnOJhwiaJddzURdtwQIKx++cKzOpu99DqdRHWNWeCqhPAD3xbK3lTAwQcfuztrkNNOG5B3zZ43CjcxtHhvioRyOkax/8pbn54LQnm3IFIi/6Pd5QvjuuKCwmkQwBeNhfn0enpHO476Rh1lmvqom1tZelYBifweJwVGWfF6T/iUGKc2ATwj4Qfe28PApFw66vnLbYVjJghARZVQgIQY5gqaklth5cDfYPQ1NTX71xIIDMC37sR2M9kYaTzy5XF1K/V1EUbKAeNOfzjYTN2MI25R/S2xcbFiPEIeP2HonCLB52xSGAGATxUwRMOsbahcSHedMWFBPIhEIhZtS05zWk+Rm3JRLQNByQI/jEl/qea3rb49WfMMhCApw1NpViXwV7aSAIFJIBm0B21i2JNIXDJl4DLNB9qcS8LL5uWI5mINhQUiKCPAjZjB6PettiRGZEEZhP4cnYU+xj9fl9u374t+/v79omZggRIoEUE1gSYICUCLpPpngYBmvVTsuhytpmJNldv2/OXf0Zn8stW8xsJuBHAyFK3lDNSocM2RpVub1s/m8zImYdJoPIEvPU1rTwpVjBVAk5eNpP+NB+jlc5MtKFQEwRfYG0TGmbOenI7m/wZt1YEUneFbW1tyfr6usD7ViuyUWW5JgF7AhRt9syYIgUCLl62LKb5GK1qpqKtcfqPjoix7bfAyXaFH08E+ppPT0OqS6fTkZWVFcFAhVQLYuYkQAIkQAJeCLh62R7c/bDjxYCYmWQq2tZWlo6dJtsVSfpqq5g4GK0GBDJpv4SnDf3c2FxagyuqwlVEs38G1TvOoAwWQQJTCZTBy4YKZCraUKDTZLt8tRXQMfghAE8bgp/cZuSytbUlS0tLbC6dwYmHi0kgI9EGD3gxAVyzijuqSOBF908tCaQpNh8j/Swm071qUuaijd62q6eA33MggCkGMnu67/f7oXBjX7cczjSLLAOBfhmMpI3VJWDm511a8zKb5mOUfOaiDYXT2wYKDDkSwE0ii2bSfa3jsYZw6XQ6YV+3Z88sXxASpp7+h0dJoKQE8L+Y2qjukjKh2RkSCL1sItbTzmQ1ma5c+eQi2uBts3+1lYgRcVHDwg8JjCGwo/vSFG7Ie03LuK3hXKX1+31pt9uh543iTclwqTuBXt0BsP75EnDysplsXlk1jkzKom1ckcN97wZzO8Mtq78cSWqFi5FnENjS4xBXuvK6bGpuyFtX0heRtoigSRbbuinS7w/FG0aZ9nq9cB//kEANCZw/0NSw7qxyzgTK5mUDrtxEG175EARi/Q9LbxtOG4NHAhBXa5pfX0PSBXmsaCY7Gq4uHd2BdyteEom9Xi9sMoV4o+dNCXGpE4G+VranYfbCGCSQAgFzY37XOluTn5cNtuYm2lD4yanghimWH3rbLIEx+kwC6HsGsQVBdTwz9vUISIO0aAqddRPCNY/4l3KBeGOz6SUk/FJ9AvifqX4tWcNCEnCal01rkldfNi06XHIVbfS2heeAf4pBAE/9EFQQXmjKnCW+ILwQB02h8KAhLfbFqc2XkyL1+8NmU0wTwtGmkyhxfwUI4EGpU4F6sAolJeAyL5vk7GUD6lxFGwygtw0UGApEoK+24GYCz5u2xgtE3Jrug5BDwDb23dR9iLOj67hiTaOGC8ReuDHpT7/fl06nEw5YiJpOsW9SfO4ngTQIpDRPW19txcOOrriQQPYEiudli88gd9Hm7G0zYt8WHZ8LY5JAROBAN/Y1dM4CtrFPvzovyCt24l6vJ+12OxRwa2trgr5vKd1MY9vEiPUgkNJ1hocfCLd6QGQtC0egrF42gMxdtMEIJ29bIM0XL99sID0DCZSMwLHa29Ngvezv74cC7ubNm+EAhqdPn/Idp9YUmSAugRTiQbA5Xfsp2MIsa0igzF42nK5CiDZ3b1vj8W73cAEVYSCBkhFI3AkbHriNjQ3BO06jPnDwwh0cHJQMBc2tAQE8qKA7QacGdWUVC0ygzF42YC2EaIMhTt42CRZ+2PjeBtIz1IlAJeoKb8NTXzVBf7dOpxN64SDiIk/c5uamwDvX6/UkpaYuX1VgPtUl0NOq3daAta64kEA+BH736uixaCudWH7yHjE6am5hRBu8bSKn1jcx05h7RG/b6CnldokIbKmtqfTtgUCDUNvZ2RH0g8NgBgg5BDSparlcSCBtAri20RwKDxu20y6P+ZPARAK/6R41AyNtGf3E2Tb5zst21cTCiDYYNnfyTm9i5hjb8YN62278gK+3ig+MMYtDANd6pjc0iDmE4iCgJRUjgGsaHjVc15gKp1Ox+rE6JSUwPydbZfeyiX4KJdrwTtJg4OBtC4INqGitDxcSKBsBeCBwg8M6E9sXFhYyKYeFOBMoasI1NQzXKqbrQKsIBBkCtrEPxyDUsIZw0+hcSCB/AtAHxshDW0sCke1hK6BtyvTiF0q0oZrzg3/uiNh620RuzAunABF+SkoAgg03OqxTrwJFW+qIq1pA5EXT32hBX2I0fSJgG/sg1BBH+CGBIhEIvWy2Bhnpn5wIHkqkSJ9GkYyBLa7eNk3L11sphFQXZp4mAQg2eCkwqhTbaZbFvEmABEigFgQ+775ZdfOyBU+L5mXDCSucaINRobdNVS627ULwxC4+Y5NA4QhsqUXwum3qmuJNIXDJj0C/3x8tnF60URrcdiaQacIbxl4XGOnf/+TWTqZ2xiyskKIN3rbBQOBxiFmNYTQjZpkT7g5Z8G+pCeBOiR8MeN4iAVc4N32pCdN4FwIUbS7UmCY3Aq4T6Q4Gp9b6I6tKFlK0ofIP7i7iJoU+EvgaOxjDCXdjw2LEMhDA/wAEHPoOlcHeEttI00mABKpCAIMPHCfS7T+4+yH0RyFRFFa0gRZGbmBtFzgFiB0vxq4bAQ5EqNsZZ31JoH4EwsEHDhPpBoEU+gG50KLt/p1FeBkQrK44EwQbL14dtawSFTgyTSOBMwJoNj3bdF+9//777omZkgRIgAQKTgBeNpfBB2Kkc6Y7ClvDQos2UHt3Ik6q14hwwl0AZKgSAS+irUpAWBcSIIHYBGoT8cYN6bpUtkivq5pkf+FFG4bcBoOBS6fAFgclTDrt3F9SAl+X1G6aTQIkQAKZEHAefCDFnOLjKrTCizYYHE4B4jDhruGgBOBjqA6B/epUZaQm3CQBEiABDwTQLOo6+OD0xGDAlwcr0s2iFKINU4AEgYu3jYMS0r18mHvGBNC/k9MuZAydxZEACZSDgOvgg8HgtHCvq5pEvBSiDcbfvxtOdIebFr7GDgkGJcQugxFJIEMCeM9jhsWxqDoT6Pf7o9W/9GX0ALdJIG8CL7p/ajkOPij0FB9XuZZGtMFwtylARPRE7u52DxeEHxIoP4EdrQK9bQqBC+MRgGEAABAASURBVAmUgwCtzIKAuTG/61LOu3eCCcxdkuaSplSibTgU99Te0xBI84eN723kQpiFkoBfAhBsTiOq/ZrB3EiABEigGAR+9+roseh9Xmw/RjoY7GibLM/4pRJtADV38m5LXAYlNBqP0UlR+CGB8hPAgAT7h5cr9eZXEiABEig7AdzXtRVOdYFlTYz01cvmMjOFZUF+o5dOtLkPShC5MS9O7lO/yJkbCXghAM+xdR9PLyUzExIgARIoCAHXOdnKNPhgFHVj9Esxtmdb4TooQXPm3G0KgUtlCKxpTeB101X8pdlsxo/MmCRAAiRQUAJ7r759JG7NoqUafDCKv5SiDRUYNOY2sbYNxrCZ1JYZ4xeWAPq3QbiVzsVfWKI0rDoEWJNKE0Cz6KmIfbOoiGizaKkGH6jJ50tpRduDn/34IHB6U0KwwGbS8/PPjWoQwA/XklaFzaUKgQsJkED1CQzv48GCbU0DkdLMyTaubqUVbahM+KYEIy5zB7GZVPjJiUBaxeL/AE+PCM+0EHjhdMWFBEiABKpFIGwWFWmJ7Uf1wv07i3jItU1ZmPilFm3DQQniNP2BYTNpYS5CGuKVALxtbc3xpgYIuE1do/mUIk5BcIlP4Pj4eDTypS+jB7hNAlkSSNIsejoI8HuYpbney7oQbd6zziZDVc16k3KYu03YTJrNGWIpORLQ/w3BZLx4suRNV/ixIUDRZkOLcbMi4NosKkY6v7h7y3rgVlb1iltO6UUbKuo6d5umZTOpQuBCAiRAAr4IMB8SSItAOImuY7Pou3eCFoe0TMss30qINjSTSjBgM2lmlw0LIgESIAESIIHsCKBZNBBBq4HYfgaD01IPPhitbyVEGyp0L3R7GgfXZ7AwPx/sIQ+GKhNg3UiABEiABMpKwHUSXdFm0Qd3P+yUtd5X7a6MaEPF5k7+rt42Y913x4hZfvHVt0+QBwMJkAAJkAAJkEBxCITNoo6T6HpvFs0ZS6VEW6Jm0iDYePHqqJXz+WDxJEACJFAIAgcHB4Wwg0bUm8CL7p9abBa9uAYqJdpQLfdmUhFjZHe3e2g9WZ/wQwIkQAL5EvBWOkaNbm5uytramrc8mREJuBBAPzZzY37XJa0Y6VSpWTRiUDnRhoqFzaRGMNmoWH3U/fqj+R+4XSBWBTEyCZAACRSPwNOnT2VpaUl2dnZGjUOXk6ejO7hNAlkQmJ+TLdd3i1atWVTOPpUUbWgmDQJZP6uj5SpYffHyzYZlIkafRID7SYAECk+g1+vJysqKbGxsCDxtIwb3dPu2hksqTr9zIYFUCeCtB9r69dClkCqNFr1a/0qKNlTSfdJdEcO3JQg/JEAC1ScQiTUINmyP1Liv23ijBgK29SsXEsiGAJpFTyW49KAQt+SBBE+r2Cwa1b+yog0VDCfddWkmxdsSbkiX/dtAkaFqBNbX16Xf71etWqyPBQGcf1wHK+pduyLW0BS6rVnBuwYvm25yIYHsCOC+m2B6j/5/n/zDaS637GqYrKRKi7a1laVj52bSQJo/vPGDx8nwMjUJFIbAuUrDTRr9lnDTxs27MBaW0pByGY3zjfOO89/pdK4ajx1LuhM3vWNdcyGBzAn8j7nvP3bqxyYi797Jyrre93WzskulRRvOWqJmUkwDwv5twMhQfgLo4/lstBqdTifsdI6beK/XGz3E7YoRmCHWcPLhWcM1clyxqrM6JSKAfmyBMRsuJgcilXnrwbT6V160ofL37nyIiwA/TPhqFcrav82qkoxcBwLwtLW1ovCkXBNvKysrYUd0ijclVKEF5xNTd0zwrOE3EX3WEDgpW4XOexmrMuzHJvDyivXHSF8dNG5prQvLN0EtRBsQvzuRdRHj8BQZLKB9He3swg8JlJ/ARPGGGzzEG27wz55d0nXlr3XNahCdS5zP/f39q7UfFWvYvnqc30kgIpDJGvdX3GdFAvt5UlWwoVk0E0MLUEhtRNsvVxb7gyDYdGIeSPN/3HiPr7lygsdEBSUwUbyhKa3dbp83neJ7QetAs0YIYKqO7e3t8LxBrEG4jRzGJgQavGoI2MY+BhLIncAP597bce3HVuXpPcadmNqINlT+wd3FjsjpU2zbhiCQNudvs6XG+CUgcFW8nXujIdY6nU4oAtDENsZjk1/1WPI5gV6vJ3iDATykW1tbgvN2fnC40dEVhBpCT7e5kEBhCPzu1dFj5/nYKj69x7iTVCvRBgDu04CIGGOe8P2kwk81CUTiLeqQju/nNYVgg3CDMMDAhTHC4DwuN9InEHnVbt++HfZFxBsMsG+k5GPdxtQdN3W9roFiTSFwKRaBJO8VFSOVn95j3NmqnWhbW1k6HrZ/u/RvEzFGdtFhUsZ/uJcEyk4AYg2eGQxYuHazh1jrdIbeNwgG9H3DvrJXugz2Q5ThNVNo+rx586ZsqVft4ODgquk93bGpAedvS9fHGriQQOEI4D7q/F5RMeF9vOrTe4w7abUTbYCA/m1BMMBTKL7ahUCa8/PB3m730L7DpF1JjE0CeRPoqAFoUoMAwMgECDrdNVwgGKK+bxASFHBDLj7/Qqh1Op3Qm7a0tBS+ZqrX610t4lh3oNsHzhXCjn7HPl1xKSeB6lsdDjzQ+6lLTQMzqMX0HuPYNMbtrMO++3dv6Q+bW/82I2aZAxPqcJWwjmcEINbaug3xtqZrCDhdXSwQEpGAgwcOHeIh6i5icCsugX6/L6MeNTRHgy8E3JU8oN7gDcV52dBj+K4rLiRQbAK/e/nmifPAAwme3v8E9+9i1zEt62or2gA07N8m5lr7Ao7NChiYgA6Us+LxOAlUiYDWZV8DBNzEvlIQa1tbWwLxBu8QRAe9cEptwgIxhj6D0WACMNvY2BAItTFJeroPzZ/gD69aR78fa+BCAqUggPtmYMyGk7FG+g/u3HJL61Rg8RLVWrSF/dtOAvUcGKcfvUBkiwMTindR06JMCOB/BoIBwgGeHnh8ICguFQ6vUafTkVEvHEQcREpfPUqXItfky6hIQ7My+qdhkAcGE0xgAq6bigecwXtHt481cCGBUhH47cs3q7hvOhltpD/sj+6UujKJKiLa3M8H+rdJMMANxykTI2bvN92jplNiJiKBahDoazU6GiAo4AHSByFBEyr26+6LBV64TqcjECnwKCFgG82BvV5Pjo+PLyJXYAv1Qb1QP4hV1HdUpOHYmGoCQk/3b2oAT3CFULvGU49zIYFSEMB9cs40dl2NPR0Em+H92jWDiqSrvWjDebx399a+qn+3gQnCNyaAIQMJnBGA4IiaUOEZwhQiEB8QIWdRLlb9fl/gdUNzYOR1grDBNpoLcQzCBuLnIlXxtmDfwcGBdDodQX8+CFHUAwINdUH9cAz1nWA9+ESDCcAtEmrHE+JzdxoEmGcqBCDYwoEHer90KQD351/ofdolbdXSULSdndGz95bhh/Nsj8UqkOYP57/ftUjBqCRQFwIHWtEdDRAh5myNByT8r40VJP1+P+zPheZCiB+IHogfBGxjHwQdvFeRqEMaCCfN3/uCfJE/RBnK65wJM3jOon57sA3b2Le1tRUKUaSZYMyx7u9pgEiDVzLypqGvDvbjuB7mQgLVIDA3P9h3HXggYvbP7s/CjwhF28hVMHfy3ZoY6YvDx4hZ/t1XR86uX4cimaQ+BKpUU4iSLa0QRBzECjxx6J4AAYNjemj8AvHU6/VCQbSzsxNOfwEBByEXebWMMeEbHPAd+6OAeBBU00IUF2ukRzDGCAQZtiHKony2trZCrxqEXL/fH2/wxd4D3exo2NSA+kaeNIg0eCUp0hQMl2oSwEjRhjQ+dqqdkf67k2DTKW1FE1G0jZzYcGDCO9GbiXH6EeWI0hGY3CSBeAQiQQMBo/97YjQZhM2aruGRg6hBnNj/kxBRCL1eL/TY9XQdecg6nU4otjpj1j2NFwWkR1AbbBaoN9gLAQohinrc1Aywxvcd3baqi8bnQgKlJZBopOjZBLrsx3b59CcTbZfzqsQ3XCCDwF3Za9v71u+/OnpYCRisBAnkQwDCBuJnS4uHeIPogfhBgLDDPgg6iCPE62k8CKZjXae1IP/Iro4WgvIhxGAPPGcQm1jDNghQxEH8NG1SM7iQQDEJ7L369hHuh67WDYITDjwYA4+ibQyUB3cXO3qx4Ud5zNHZuwaBdDgVyGxOjEEClgQggCDQINQg6CCOIJIi4QRRF4knCCjsjwLiQWRNC4gTxUd6BOSHgG2IR8RBHigfwgz2QNBZVoXRRwlwu1oEnnf/a/lUAniWnSoWiGw/uPsh/r+c0lc5EUXbhLOLjo/a3IlpCybEmL7bcCqQ6YB4lATSIwARhQBBFQUIPdwEpgXEieIjPUJ6VjJnEqggAYwUbcwP3AfmGeng/ltBNF6qRNE2BeP86Xf6JG/QxDEl1qRDw6lAcAFPisH9RSdA+0iABEiABOISwP0uydQeYqT/t3ffbcYtr47xKNqmnPVwYMJJsIYLaUq0yYcCaeIC3u0eLkyOxCMkQAIkQAIkUG4Cv+kehfc756k9jIRvPFhfWUI3iHLDuGq9x+8Nj3lVMqtwYIKZWxMxbheSCjfM4UbhJvyQAAmQAAlUkADubwnnYjvGK6pwv60gHq9VomiLgfPBz358kGREqRGz/KP5H3AOtxisGYUESCAzAiyIBLwQwP3NeS42teA0GKxTsCmIGAtFWwxIiJJ0RKlIsMrJd0GSgQRIgARIoCoEPn95pA6JYNW1PoHI9i/4iqrY+CjaYqMSGY5oOcXcUBapLqIGgbQx2eDFHm6NJcCdJEACJEAChScQ3s+MtMXxA8E2vK86ZlDDZBRtlif93p0PN1R8OU8FohfpVnihW5bL6CRAAiRAAiRQFAK4j+F+5m5P+u8UdbetuCkp2hzOTbKpQLShVITCzYE7k5AACZAACeRPIKlgG8jg67+d/B2TVOdfmZJZQNHmcMISTwWiZeIJBRe+bnIhARKoFQFWlgTKSwD3Ldy/nGtgpH960ljl1B5uBCna3LgJRrpgiLLzHG5aLi58/APoJhcSIAESIAESKDQB3K9w33I2UgUb7pu4fzrnUfOEFG0JLgBceLgAxXUONxk2lb54+WZDN3NfaAAJkAAJkAAJjCOw9+rbR4kEm94ncb/EfXNc/twXjwBFWzxOE2PhAhw0GiuiF6Q4fowxT37/1dFDx+RMRgIkQAIkQAKpEcD9yeIF8GPsMMeDk8YK7pdjDnKXBQGKNgtYk6ImnXwX+Q4C6eAfA9sMJEACJEACJFAEArgv4f6UxBbTCDYfrPz4IEkeTDskQNE25JD474O7ix29sBONhtH0FG6JzwQzIIEJBLibBEjAioAPwRaYYPPff7bYsSqYkScSoGibiMb+AISbtvlv26e8SAHhxj5uFzy4RQIkQAIkkD0B9GHD/ShJybgf3v/k1k6SPJj2MgGKtss8En/D7M64UC0yuhYVfdwwSufaAe4gARIgARIggZQJ4P6TrA9bOMhuG/fDlE3DHUQ4AAAQAElEQVStXfYUbSmcclyoSYWbpucEvCmcG2ZJAiRAAtUk4KdWEGy4/yTJTdNTsCUBOCUtRdsUOEkOUbgloce0JEACJEACWROgYMuauH15FG32zGKnoHCLjYoRK0yAVSMBEig+AQq24p8jWEjRBgopBgq3FOEyaxIgARIggcQEKNgSI8wsgxqLtswYizfh9tXRbnZWsyQSIAESIIGqE/j85dFuILIlCT6ann3YEvCzSUrRZkMrQVwvwi2Q9uevvt3b7R4uJDCFSUmABEiABHwRKGk+uI/gfiJG2pLgQ8GWAJ5DUoo2B2iuSXwIN5Fg9Yfz3+/+pnvUdLWD6UiABEiABOpLAILtX+a/18P9JAkFCrYk9NzSUrS5cXNO5UO4GTHLN24IhZvzWahFQlaSBEiABK4RwAP/j26897ohjY+vHbTYQcFmActjVIo2jzDjZuVDuEkgTQq3uMQZjwRIgARIAIIN9w3cP5LQoGBLQi9Z2kay5A6pmSQk4E24zZvXz/+/Py+HmfIPCZAACZAACYwh8KL7p9YNvV9QsI2BU6JdFG05niwvwk2ChcZg7jXfV5rjiWTRJEACmRNggfEJ/P6ro4dmfr4rer+In+p6THrYrjPJeg9FW9bEr5TnR7iJ8H2lwg8JkAAJkMAVApiDbRBIRxJ+KNgSAvSUnKLNE8gk2YTCLQg2k+SBtPpPtfXiq2+fYJshLwIslwRIgASKQcDHHGyoiWnIOu5T2GbIlwBFW778z0u/f/fWjj4NrYuYY0nwMUGw8eLVm9focJogGyYlARIgARIoKQFM6fH81X8eSMI52ETvRxBs//6zxcSeOuHHjsCE2BRtE8DksfvB3cXOoNFYEf1HkQQfwylBEtBjUhIgARIoLwE8sPuY0kP0PjQ4aaxQsEmhPhRthTodIg9+9uODdyfBbX1C6icyDVOCzJvXv335ZjVRPkxMAiRAAhcEuFVgAr5GiOL+g/vQg5UfHxS4urU0jaKtgKf9lyuL/XfvZEWMJBNuEizMGbOHjqjCDwmQAAmQQGUJ4HfexwhR3Hdw/8F9qLKwSlwxiraCnjz8w+AfR8QkftKpxQAF4YcESIAE6kcA/dd8DTgYyOBr3Hdw/6kfyXLUmKKtwOcJ/zhzJ39fETH7kvCDAQqff3V0iP4OCbNichIgARIggQIQwO95+A5RI4le+i76CQJ59t8n/2zhvqNfa7sUveIUbQU/Q2srS8f37nywpt6y7cSmop/bDem+eHXUSpwXMyABEiABEsiNQNh/TX/Pk75DFBUYSPD0/t3F9rreb/CdobgEKNqKe24uWYY5cnwJNyPSRf+HSwXwCwmQQIEJ0DQSuCCw9+rbR2H/NX0Qv9jrtoX7yoM7tzbcUjNV1gQo2rImnqA8CDcJgjURk2guN9GP/qNuaXPpLvpD6FcuJEACJEACBSeA32v0XzuVYCe5qeYYc7CF95XkmTGHjAhQtGUE2lcx9+7e2sdQbIzwSZxnIG3M54N+Ea55MR0JkAAJkED6BPA7jd9r/e1P3H9N8+hzDrb0z1kaJVC0pUE15TzRURQjfPCPl7goda/fmDevX7x8Q/d4YpjMgARIgAT8E0BzKH6nRX+vk+Y+OBshWrA52JJWqzbpKdpKeqoh3ObefXcbI36SVyFYMMY8efHVt0/gfk+eH3MgARIgARJISgC/x797+ebJsDk0WEiaH+4XHCGalGK+6Sna8uWfqHSMLL1/d7EdiGwnyugsMaYFgfsdbvizXVyRQL0JsPYkkBMB/A7j9zgwxksrCO4TuF9whGhOJ9RTsRRtnkDmmQ06kg4CWRcPAxTgfr8xL4dsLhV+SIAESCAXAj6bQ0XvCxxwIJX5ULSV81Res/rB3cWOtwEKmjuaSz//6mgXT3v6lQsJkAAJkEDKBNAc+vmrb/d8NYeKkT7uC//+s8VOyqYz+4wIULRlBDqLYtDPLRyg4OENCqG9gbRv3JDuC07GG+LgHxIgARJIiwAmy0VzqEiw6qmM3t/efXcb94XJ+fFI2Qg0ymYw7Z1OAP+g3t6ggKICaRpOxiv8kAAJkEBaBDDYwNdkubAxENm+d2dxhf3XQKNagaKtWufzvDbo5xZOxKvu8fOdCTb0RwCT8fLdpQkYMml8AoxJAnUggO4nz1/954GvwQYi5vg0CNbC33/hp4oEKNqqeFbP6nQPE/G+kxXxJNyiQQp8BdYZYK5IgARIwJFANNjAx7tDYcIA86+dBLd/ob/7+M5QTQIUbVbntXyRw+bSTxaXRE6f+rI+9Lq9OuriKdFXnsyHBEiABOpAAL+bn+vvp7fBBgptIMFTzr+mIGqwULTV4CSjivfufLgRBMGmqPtc/HxaN/gmBT8kmQsJkEAtCETeNRFpiZePOQ5MsPngzq0N9l/zArTwmVC0Ff4U+TPw/t1bOxj+7a25VILwTQp4asTToz9LmRMJkAAJVIcAfh/xO+nTu4bfcfye3//k1k51SLEmswhQtM0iVLHjaC7F66/EY3OpIqLXTSFUYGEVSIAEPBPw710TQXMop/PwfKJKkh1FW0lOlE8z8forNJeGb1Ew0hcvnzOv21dHHGHqhSczIQESKDOBVLxrYo7xdgM2h5b5ykhmezlEW7I6MvUEAg/wFgWfo0tRTiDNG/NyyBGmgMFAAiRQNwK73cMF/P7hd1Dr7qnvmuYk0kNzKN9uELKo7Z9GbWvOiocE0Fx675PFpUBkO9zh6Y/mF87r9oJvU/BElNmQAAkkJZB2+uitBvj981nWQIKnmCwXv9c+82Ve5SNA0Va+c5aKxZiM8d2JLIm35lI1U71uRqTLd5gqCy4kQAKVJRB6116+eeLzrQYhLP09VgG4gubQ8Dv/1J4ARVvtL4ELAHiKS2GQgsjZO0yfv/xz+6I0bl0Q4BYJkEBZCWCgwY/mf3AYGLPhsw7wrmGwgT5Q93zmy7zKTYCirdznz7v16QxSUDPV69Ywc7vqdeNABcXBhQRIoNwE0BTqfRqPEIk5jrxrnHstBMI/IwSmiraReNysGYFokEIQyDOvVVfxhg66Kt52MbrKa97MjARIgARSJrCLgQZRU6i3SXIjo83+307+vkTvWsSD66sEKNquEuH3cwJoLr1/d7Htd2qQs+zZZHoGgisSqDyBylQwraZQEXN8GgRr9+58sLa+snQs/JDABAIUbRPAcPcFgTS9blGT6W9fvlm9KJFbJEACJFAcAmgKff7qPw+8vtHgvHpD79ov7t7aP9/FDRKYQICibQIY7r5MIGWvW3POmL3Mm0wvV5HfSIAESOASAXThQL81jAptSOPjSwcTf6F3LTHCGmZA0VbDk56kyg/OJuT13tcNRqHJdF4OKd4Ag4EESCAvAlG/NfS/VRtaGrwu4cjQk78v/YLeNa9c88osy3Ip2rKkXZGyIq+bBMGaGPH0Giy5+EC83ZAuZhW/2MktEiABEkiXQCjWXh09TmMKj9By/b3kyNCQBP84EqBocwTHZCL39CkxjbcphGwDaeqPW/hWBc7vFhLhHxKwJMDoNgTOBxmIbIkEC+L5E4hsc941z1BrmB1FWw1Puu8q37+zuOX9bQqRkSreGmfzu1G8RVC4JgES8EUAgww+/+roMJ1BBqGVvcHJ3G38TnJkaMiDfxIQoGhLAI9JLwigyRRetzjTg1ykstiieLOAxagkQAKzCIRi7dVRF4MMRH9fZsW3P26OAxNs3ruzuPJg5ccH9umZggSuE6Bou86EexIQeJDmQAXYpT+ukeftRfeohV0MJEACJBCXwCWx5n1y3KEV0UCD+5/c2hnu4d8UCNQyS4q2Wp72dCsNr9v9u4vt1JpMYb6KNzMvXQzHp3gDEAYSIIFpBLIQa1p+LxBZeXDn1gabQpUGF+8EKNq8I2WGEQGIt3ufLC6l1mQ6LKhF8TYEwb8FIUAzCkUgG7F20RR6/85ir1AAaEylCFC0Vep0FrMy502mItspWjgUb18dHXLAQoqUmTUJlIRANmJNRD1r2+H7QtkUWpIro9xmUrSV+/zZWJ9rXHjd9Ak0HGWaysS8Ue202TTq80bxFkHhmgTqQ+D5y6M2uk2EAwxEWpLep4cuIPhdY1NoepCZ82UCFG2XefBbygRC8XZ3sa1PpytixP/EvHL2oXg7A8EVCVSfwG73cAGTcX/+6tu3DSO7WuNUxRp+vzAqFL9nWlbNFlY3TwIUbXnSr3HZ+nTay6C/G9oumpHn7cXLN0/wLsEaY2fVSaBSBCKxFr7BQCSVSXEl+uhD5iA4XYdYw+9XtJtrEsiSAEVblrRZ1jUC6O8G8RYEwWbanjdjzAbeJfj5V0e7FG/XTkXpd7AC9SGA/movXh51MhFrYo7Vsxa+zeDB3Q879aHMmhaRAEVbEc9KDW26f/fWzrt3soIfx9Srj3ebzssh+r08f/nndurlsQASIAEvBCDW8H+L/mrGyEN1pXt/3dSFoWdi7eTvS+pZ22K/tQsy3MqPAEVb6uxZQFwC6B+CH0d07k11sMKFQa2o6RTijd63CzDcIoGiENgd6a8GsaZ2tTSkugwkeBqOCL2zSLGWKmlmbkuAos2WGOOnTiAUb3eHk/NmIt7OBi1ETaecrDf1U8wCSGAmAXjVnr96s5NNE+iZOUY6eGgs5OS4ZyZyVW8CFG31Pv+Frn3m4g00tOkUk/W+ePXmNbxveMrHbgYSIIH0CeD/7cXLNxtRE2hDzKN0m0DP6nQm1u59sriO352zvVyRQOEINApnEQ0igSsE8CMavRYrE8+blm/ELKPpFE/5GLhA75tM+nA/CSQmMOpVM8Y80QxTbwLVMkQo1oSfchGgaCvX+aq1tXmIt/Ap/8z7puItfNsC+77V+jJk5T0RgFftbG611+ir1sjKqwb7KdZAgaGEBBoltDmeyYxVWQL5iDfFOdr37dW3e8858lShcCGB+AQg1OBVQ/Pnj+bfexuIYG61ZcnkY44xwAB91tgMmglwFpICAYq2FKAyy2wIXBNvRvqS2SdYRfMpvG8adtl8mhl4FlRCAhBq0aACeNW0Ci0NGS3mWMVh+H5QDDDA74ZNwYxLAkUiQNFWpLNBW5wI4Ec47PP2TlYGgaxLluJNvW8SSBuDF1S8HWrYfd79c0aeA+GHBApLIBJqn7/69i2EWiPL5s+QyoVYw1RCnGcthMI/JSfQKLn9NJ8EzglAvEVvWMhcvMGKMwHXmJ97reLtEJ6F9AQcCmQggWIRgFAL+6m9PDo08/PdRuZCLeTRwxtWOM9ayIJ/KkagUbH6sDokEBKIxJsEwZru6GnIdlEB19AbVmNEwL3oHmXYJJRtdVlafQlcFWraFLml3u5mDkR6WvZK+G7Qu7d26FnL4QywyNQJNHyXwPxIoEgE7t29tY8fcXQ+zmq6kGv1PxNwo02oFHDXKHFHiQhAqMGTHDV9qljKSaiZcHCBlj8Ua3cWs39AK9F5o6nlJ0DRVv5zyBrEIICm0/tnb1nIpek0slEF3HkfuFffu4DWPAAACKpJREFUvtWbXjgKldOIRIC4LiKB3e7hwvPuUft3Xx3t6jWbRR+1GRjMsQq188EF9ynWZvDi4aoQoGiryplkPWIRgHi73HRq9mMlTCVSsCAyHIUavkLr1VH3xcs3G885kCEV2szUjgC8aWH/NL0uMT1HY1521Vvd1mtWr1u7vDzGPmsC/eCmCjW+F9QjWGZVDgIUbeU4T7QyBQL3wqbTD9bOm07jjDpNwY6RLFuYDT7qB/e5ejWev/xzm164EULcTI3A7hhvWiCyJSItyfUTedW+u4muDirW2ASa6/lg4XkSoGjLkz7LLgQBeN/ua9PpvU8Wl8KmU8nT+3aG5KwZFXPBwQv34tUbjEjd/W33zSpurmexuCIBZwK4jnA9hX3TXh4dFsibFtWJXrWIBNeVI+BaIYo2V3JMV0kCYdPpncj7FmyKkQwn7JWJHyNmGX3h5ubNHm6uEHG42eKmS0/cRGw8MEJgVKTh+sF1hOupIeaRXufNkaj5bQbSV+/e9t9O6FXL7ySw5CITaBTZONpGAnkRGHrfbu3A+6Y3kZUgkGci5lgK8jEq4hp6s8VNd9QTh+ZU9okryEnK2Yy97lHzfPDAmScN1wuuG1w/483LY6+5GAF6d3FJmz/ZVy2P08AyS0GgUQoraSQJ5EhAbyK9sPn0zgc3C9N8eoVHeBMOpI3m1AbmhgtHph51X3z5n1vwxsHLciUJv1aIAM4vzjO8r3iv5+d6/k/n5fB88ICRYnjS5NKnh/8nTIKL10vh/+zSUX4hARK4RoCi7RoS7igigaLYNNp8ihuO2lXQTtEBRvi1TKPxeO6sSfXzr44O9Wa+ByH3onvUYrOqnr0SLvCgQaC9ePlmA+fz8yteNK1SSyQ8/7pZuOXsbQXD5k/8P3ES3MKdIxpUYAIUbQU+OTStuATQfIobDkazYfTpUMCZg+JarJZhcIMEqxBymOgXzap6038Lzww8NBABEHPw2mhsLjkTwHl43v3zMpo4cX5wnnC+4EGDEMdIYxVnq1JML9ooPQwouOinxrcVjLLhdrYESl8aRVvpTyErkDeBCwH3wW0IOLz3UG0qqAdOLbu0BKFHriHmEUQAxBw6qMN7A5EAsRCJOXh4LiXlFy8EwDXynIG3CrM98Md5aGhTN5o4cX60sCJ70NS8S0so1ObmZQkPNtr0yX5ql/DwCwm4EWi4JWMqEiCBcQQg4O6rJwE3Kgi4oQdOSiLg5OIz9N60GiNiDh4eFXLBC0w/8urbPQiMSNDBIwTP0EUG3IoIgMskYfb5Wd+zOW3ChmgG75J4z6Lqja4vNX1CqK3934uFGH09aiS3SaDMBBplNp62k0CRCUDAjWlC3ZcCjUIVh48Rswxh0RgRdA31CMEzBBHyIhR1R1288ijsP/fyzUboSeoetSBeIGIcii1cEtQD9YFgRf3QjIn6ot6fq6iFt0zXb8EFgndurDALPZ2Fq1s8g8yxiNnHg8n5FB36wMI+asIPCaRGoJFazsy4CgRYB08ELgTcB2v37nxwMxAZTiNSkHngPFVTswkWTCjqpBUE0g77zxnzJBQs89KFeIGIgccOoubFmcD7XEUOxA5ETxhU6EEEQQy9ULEXBYik0QDhJBYfxB9Nj+0ob6xRJkLoQfzyP7fgTYRdCGpz9wXsfXl0qNsB6oH6NFSwzqkgQzMm6ot6iwRnfc0CND9bWFjwqIH0BxI8DfT6xahPvZbX8GBCoVbw80bzKkOAoq0yp5IVKRMBbToaTiPyyeLSRTOq2ZeSe+HE5qNNsOZM4ImKHIgdiJ4wqNCDCIIYQj+7KEAkjQYIJwiouAHxR9NjO8oba5SJgKZK2NFQbyLsQtCqtUJ71W7drsli1JsmYbPnHPqn3V1ciqbnoFCrySXgpZrMxBeBhq+MmA8JkIAbgXFeOHgzNLfy9YVTo7mUnkA4iADeNPWkDd/3qc2e7J9W+vPKClSAAEVbBU4iq1AtAvDCwZtx787iCvoKSRCsDUWcKfaUIiU8DTQZBMxBeH3pdYbrDdedXoNbGvjQADwMJFAgAhRtBToZNIUErhJAE9S9u7f2hyLug9u4qcIDEt5kRXhTFX7sCJiwuTO8fs5F2ge3w+tLrzNcb3b5MTYJkECWBCjasqQduyxGJIHxBHBThQckvMmqJ069IgYibjg3nNmXyg1sGM+Be+MSMCrSzD6uD1wnw8EDiyvh9UORFhci45FAYQhQtBXmVNAQEnAjABE3nBvug7V7ZwMbLppURb1xuHELP5UnEJ7nHrxomIYjHDhw54Ob9+58sIbrA9cJRH/lMbCCFwS4VTkCFG2VO6WsUN0JYGDDRZPq4oretG8OGnO3KeSqdGVAoJn96wJtMfSiYRoODhyo0vlmXUhgSICibciBf0mg0gQe/OzHB1eFXNQ/Lmw6C+SZAsjKK6dFcYlHIBRnB8ZIB+cJwhvnDUJcwxqaOSnQ4pFkLBKoAgGKtiqcRdaBBBwIoKkMTWZh09ndxfa9sI/cBzchCtD/CSIBnhzNGmKOI1cVRGpLIH3B2wUwcW0QbEKcjTRv3v73TxbXcZ4gvHHehB8SIIFaEqBoGz3t3CYBEhCIgkjMwZNzJuZu69qgmfWyoDP7igyi7ljXXCYRGIqy0GMGIYw+ZxfCbNHcu7u4dO/OB6Hn7P7dWzsQZ2zenAST+0mgvgQo2up77llzErAmgGbWy4Lug7V7Zx46XRt4hyDqIEgiTx2a9rQgCLsDCcWLfqvKgvogiPRQTwiysN6BrIMDeIDLvaEoCz1mEMJo0qQwk8p+WDESSIsARVtaZJkvCdSQALxDEHUQJPfVYwSBgqY9FS4YEHH7XiheFg2aYCFoIGwQ4HlCCAaDbQQIIATRJkNRQXQeIJBGgx6wW8xxKBwD6Z+vxaDpV0WlhMIL5SLADoSBCjCEUIiKrMBu2K91GnrIhnVaQT1R3/uo993FDjiAh/BDAiRAAp4I/P8AAAD//zzKp2MAAAAGSURBVAMAk7jtGsRo/lcAAAAASUVORK5CYII="/>
          <p:cNvSpPr>
            <a:spLocks noChangeAspect="1" noChangeArrowheads="1"/>
          </p:cNvSpPr>
          <p:nvPr/>
        </p:nvSpPr>
        <p:spPr bwMode="auto">
          <a:xfrm>
            <a:off x="307975" y="2365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887" y="340606"/>
            <a:ext cx="2766300" cy="3139712"/>
          </a:xfrm>
          <a:prstGeom prst="rect">
            <a:avLst/>
          </a:prstGeom>
          <a:effectLst>
            <a:softEdge rad="2921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604"/>
            <a:ext cx="8229600" cy="2127380"/>
          </a:xfrm>
        </p:spPr>
        <p:txBody>
          <a:bodyPr>
            <a:normAutofit/>
          </a:bodyPr>
          <a:lstStyle/>
          <a:p>
            <a:pPr algn="ctr"/>
            <a:r>
              <a:rPr lang="uk-UA" sz="3600" b="1" dirty="0" smtClean="0">
                <a:latin typeface="Segoe Script"/>
              </a:rPr>
              <a:t/>
            </a:r>
            <a:br>
              <a:rPr lang="uk-UA" sz="3600" b="1" dirty="0" smtClean="0">
                <a:latin typeface="Segoe Script"/>
              </a:rPr>
            </a:br>
            <a:r>
              <a:rPr sz="3600" b="1" dirty="0" err="1" smtClean="0">
                <a:latin typeface="Segoe Script"/>
              </a:rPr>
              <a:t>Постановка</a:t>
            </a:r>
            <a:r>
              <a:rPr sz="3600" b="1" dirty="0" smtClean="0">
                <a:latin typeface="Segoe Script"/>
              </a:rPr>
              <a:t> </a:t>
            </a:r>
            <a:r>
              <a:rPr sz="3600" b="1" dirty="0" err="1">
                <a:latin typeface="Segoe Script"/>
              </a:rPr>
              <a:t>задачі</a:t>
            </a:r>
            <a:endParaRPr sz="3600" b="1" dirty="0">
              <a:latin typeface="Segoe Scrip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259633"/>
            <a:ext cx="6591985" cy="3228392"/>
          </a:xfrm>
        </p:spPr>
        <p:txBody>
          <a:bodyPr/>
          <a:lstStyle/>
          <a:p>
            <a:pPr marL="0" indent="0">
              <a:buNone/>
            </a:pPr>
            <a:endParaRPr lang="uk-UA" sz="2200" dirty="0" smtClean="0">
              <a:latin typeface="Segoe Script"/>
            </a:endParaRPr>
          </a:p>
          <a:p>
            <a:endParaRPr lang="uk-UA" sz="2200" dirty="0">
              <a:latin typeface="Segoe Script"/>
            </a:endParaRPr>
          </a:p>
          <a:p>
            <a:r>
              <a:rPr sz="2200" dirty="0" smtClean="0">
                <a:solidFill>
                  <a:srgbClr val="0070C0"/>
                </a:solidFill>
                <a:latin typeface="Segoe Script"/>
              </a:rPr>
              <a:t>Є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набір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даних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оголошень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оренди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Мета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спрогнозувати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rent_per_sqft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(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ціна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за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м²).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План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виконання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Аналіз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→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Моделювання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→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Аналіз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результатів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050" y="4553339"/>
            <a:ext cx="6167534" cy="1563273"/>
          </a:xfrm>
          <a:prstGeom prst="rect">
            <a:avLst/>
          </a:prstGeom>
          <a:effectLst>
            <a:softEdge rad="2286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941808"/>
          </a:xfrm>
        </p:spPr>
        <p:txBody>
          <a:bodyPr>
            <a:normAutofit/>
          </a:bodyPr>
          <a:lstStyle/>
          <a:p>
            <a:pPr algn="ctr"/>
            <a:r>
              <a:rPr sz="3600" b="1" dirty="0" err="1">
                <a:latin typeface="Segoe Script"/>
              </a:rPr>
              <a:t>Короткий</a:t>
            </a:r>
            <a:r>
              <a:rPr sz="3600" b="1" dirty="0">
                <a:latin typeface="Segoe Script"/>
              </a:rPr>
              <a:t> </a:t>
            </a:r>
            <a:r>
              <a:rPr sz="3600" b="1" dirty="0" err="1">
                <a:latin typeface="Segoe Script"/>
              </a:rPr>
              <a:t>аналіз</a:t>
            </a:r>
            <a:r>
              <a:rPr sz="3600" b="1" dirty="0">
                <a:latin typeface="Segoe Script"/>
              </a:rPr>
              <a:t> </a:t>
            </a:r>
            <a:r>
              <a:rPr sz="3600" b="1" dirty="0" err="1" smtClean="0">
                <a:latin typeface="Segoe Script"/>
              </a:rPr>
              <a:t>даних</a:t>
            </a:r>
            <a:endParaRPr sz="3600" b="1" dirty="0">
              <a:latin typeface="Segoe Scrip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474238"/>
            <a:ext cx="6591985" cy="2864498"/>
          </a:xfrm>
        </p:spPr>
        <p:txBody>
          <a:bodyPr>
            <a:normAutofit/>
          </a:bodyPr>
          <a:lstStyle/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Розмір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4 746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рядків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× 12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колонок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Цільова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змінна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rent_per_sqft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Ключові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групи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полів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житлові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характеристики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місто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тип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меблювання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контакт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Очищено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типи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даних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і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підготовано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дані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до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моделювання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481" y="4422987"/>
            <a:ext cx="6216111" cy="1977813"/>
          </a:xfrm>
          <a:prstGeom prst="rect">
            <a:avLst/>
          </a:prstGeom>
          <a:effectLst>
            <a:outerShdw blurRad="50800" dist="50800" sx="1000" sy="1000" algn="ctr" rotWithShape="0">
              <a:srgbClr val="000000">
                <a:alpha val="98000"/>
              </a:srgbClr>
            </a:outerShdw>
            <a:softEdge rad="1016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 err="1">
                <a:latin typeface="Segoe Script"/>
              </a:rPr>
              <a:t>Підготовка</a:t>
            </a:r>
            <a:r>
              <a:rPr sz="3600" b="1" dirty="0">
                <a:latin typeface="Segoe Script"/>
              </a:rPr>
              <a:t> </a:t>
            </a:r>
            <a:r>
              <a:rPr sz="3600" b="1" dirty="0" err="1">
                <a:latin typeface="Segoe Script"/>
              </a:rPr>
              <a:t>даних</a:t>
            </a:r>
            <a:r>
              <a:rPr sz="3600" b="1" dirty="0">
                <a:latin typeface="Segoe Script"/>
              </a:rPr>
              <a:t> — </a:t>
            </a:r>
            <a:r>
              <a:rPr sz="3600" b="1" dirty="0" err="1">
                <a:latin typeface="Segoe Script"/>
              </a:rPr>
              <a:t>що</a:t>
            </a:r>
            <a:r>
              <a:rPr sz="3600" b="1" dirty="0">
                <a:latin typeface="Segoe Script"/>
              </a:rPr>
              <a:t> </a:t>
            </a:r>
            <a:r>
              <a:rPr sz="3600" b="1" dirty="0" err="1">
                <a:latin typeface="Segoe Script"/>
              </a:rPr>
              <a:t>зроблено</a:t>
            </a:r>
            <a:endParaRPr sz="3600" b="1" dirty="0">
              <a:latin typeface="Segoe Scrip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905001"/>
            <a:ext cx="6591985" cy="3080962"/>
          </a:xfrm>
        </p:spPr>
        <p:txBody>
          <a:bodyPr>
            <a:normAutofit lnSpcReduction="10000"/>
          </a:bodyPr>
          <a:lstStyle/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Обчислили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показник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«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ціна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за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м²» (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rent_per_sqft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).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Перетворили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категорії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на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бінарні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ознаки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(one‑hot).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Проаналізували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пом'якшили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вплив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шумів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/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викидів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Виділили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окремо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ознаки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міст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(dummy-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розбивка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).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227" y="4985963"/>
            <a:ext cx="5025213" cy="1442830"/>
          </a:xfrm>
          <a:prstGeom prst="rect">
            <a:avLst/>
          </a:prstGeom>
          <a:effectLst>
            <a:softEdge rad="1016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513184"/>
            <a:ext cx="6589199" cy="1166326"/>
          </a:xfrm>
        </p:spPr>
        <p:txBody>
          <a:bodyPr>
            <a:normAutofit fontScale="90000"/>
          </a:bodyPr>
          <a:lstStyle/>
          <a:p>
            <a:pPr algn="ctr"/>
            <a:r>
              <a:rPr sz="3600" b="1" dirty="0" err="1">
                <a:latin typeface="Segoe Script"/>
              </a:rPr>
              <a:t>Схема</a:t>
            </a:r>
            <a:r>
              <a:rPr sz="3600" b="1" dirty="0">
                <a:latin typeface="Segoe Script"/>
              </a:rPr>
              <a:t> </a:t>
            </a:r>
            <a:r>
              <a:rPr sz="3600" b="1" dirty="0" err="1">
                <a:latin typeface="Segoe Script"/>
              </a:rPr>
              <a:t>тренування</a:t>
            </a:r>
            <a:r>
              <a:rPr sz="3600" b="1" dirty="0">
                <a:latin typeface="Segoe Script"/>
              </a:rPr>
              <a:t> </a:t>
            </a:r>
            <a:r>
              <a:rPr sz="3600" b="1" dirty="0" err="1">
                <a:latin typeface="Segoe Script"/>
              </a:rPr>
              <a:t>та</a:t>
            </a:r>
            <a:r>
              <a:rPr sz="3600" b="1" dirty="0">
                <a:latin typeface="Segoe Script"/>
              </a:rPr>
              <a:t> </a:t>
            </a:r>
            <a:r>
              <a:rPr sz="3600" b="1" dirty="0" err="1">
                <a:latin typeface="Segoe Script"/>
              </a:rPr>
              <a:t>валідації</a:t>
            </a:r>
            <a:endParaRPr sz="3600" b="1" dirty="0">
              <a:latin typeface="Segoe Scrip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679510"/>
            <a:ext cx="6591985" cy="2621902"/>
          </a:xfrm>
        </p:spPr>
        <p:txBody>
          <a:bodyPr/>
          <a:lstStyle/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Єдиний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train/test split з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фіксованим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random_state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=42.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Масштабування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числових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ознак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у pipeline.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Далі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2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моделі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порівняння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на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одному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тесті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</p:txBody>
      </p:sp>
      <p:pic>
        <p:nvPicPr>
          <p:cNvPr id="4" name="Picture 3" descr="e4fe7eb5-2b6c-4c2e-bf8c-3e2ae188bf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55" y="4096140"/>
            <a:ext cx="6242180" cy="2505966"/>
          </a:xfrm>
          <a:prstGeom prst="rect">
            <a:avLst/>
          </a:prstGeom>
          <a:effectLst>
            <a:softEdge rad="889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 err="1">
                <a:latin typeface="Segoe Script"/>
              </a:rPr>
              <a:t>Ключові</a:t>
            </a:r>
            <a:r>
              <a:rPr sz="3600" b="1" dirty="0">
                <a:latin typeface="Segoe Script"/>
              </a:rPr>
              <a:t> </a:t>
            </a:r>
            <a:r>
              <a:rPr sz="3600" b="1" dirty="0" err="1">
                <a:latin typeface="Segoe Script"/>
              </a:rPr>
              <a:t>кореляції</a:t>
            </a:r>
            <a:r>
              <a:rPr sz="3600" b="1" dirty="0">
                <a:latin typeface="Segoe Script"/>
              </a:rPr>
              <a:t> (</a:t>
            </a:r>
            <a:r>
              <a:rPr sz="3600" b="1" dirty="0" err="1">
                <a:latin typeface="Segoe Script"/>
              </a:rPr>
              <a:t>огляд</a:t>
            </a:r>
            <a:r>
              <a:rPr sz="3600" b="1" dirty="0">
                <a:latin typeface="Segoe Script"/>
              </a:rPr>
              <a:t> 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1107126"/>
          </a:xfrm>
        </p:spPr>
        <p:txBody>
          <a:bodyPr>
            <a:normAutofit fontScale="77500" lnSpcReduction="20000"/>
          </a:bodyPr>
          <a:lstStyle/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Видно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патерни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між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площею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кількістю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кімнат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/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ванн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ціною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за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м².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Міста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тип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меблювання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дають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суттєвий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внесок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</p:txBody>
      </p:sp>
      <p:pic>
        <p:nvPicPr>
          <p:cNvPr id="4" name="Picture 3" descr="5c68d97d-7846-4707-80fb-3d4ce85c18a8.png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100"/>
                    </a14:imgEffect>
                  </a14:imgLayer>
                </a14:imgProps>
              </a:ext>
            </a:extLst>
          </a:blip>
          <a:srcRect r="-1112"/>
          <a:stretch/>
        </p:blipFill>
        <p:spPr>
          <a:xfrm>
            <a:off x="1436913" y="3469326"/>
            <a:ext cx="7632442" cy="3240000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7000" endPos="65000" dist="50800" dir="5400000" sy="-100000" algn="bl" rotWithShape="0"/>
            <a:softEdge rad="2032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120714"/>
          </a:xfrm>
        </p:spPr>
        <p:txBody>
          <a:bodyPr>
            <a:normAutofit fontScale="90000"/>
          </a:bodyPr>
          <a:lstStyle/>
          <a:p>
            <a:pPr algn="ctr"/>
            <a:r>
              <a:rPr sz="3600" b="1" dirty="0" err="1">
                <a:latin typeface="Segoe Script"/>
              </a:rPr>
              <a:t>Модель</a:t>
            </a:r>
            <a:r>
              <a:rPr sz="3600" b="1" dirty="0">
                <a:latin typeface="Segoe Script"/>
              </a:rPr>
              <a:t> 1 — Ridge (з </a:t>
            </a:r>
            <a:r>
              <a:rPr sz="3600" b="1" dirty="0" err="1">
                <a:latin typeface="Segoe Script"/>
              </a:rPr>
              <a:t>підбором</a:t>
            </a:r>
            <a:r>
              <a:rPr sz="3600" b="1" dirty="0">
                <a:latin typeface="Segoe Script"/>
              </a:rPr>
              <a:t> α)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838131"/>
            <a:ext cx="6591985" cy="2118049"/>
          </a:xfrm>
        </p:spPr>
        <p:txBody>
          <a:bodyPr/>
          <a:lstStyle/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Причина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проста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лінійна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модель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з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регуляризацією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проти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переобучення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Параметр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(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GridSearchCV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): α≈10.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Тест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(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приблизно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): MAE≈17.0, RMSE≈38.9, MAPE≈69%, R²≈0.50.</a:t>
            </a:r>
          </a:p>
        </p:txBody>
      </p:sp>
      <p:pic>
        <p:nvPicPr>
          <p:cNvPr id="4" name="Picture 3" descr="98ef10c7-0bf4-441c-8ad6-9e4a30fbdf83.png"/>
          <p:cNvPicPr>
            <a:picLocks noChangeAspect="1"/>
          </p:cNvPicPr>
          <p:nvPr/>
        </p:nvPicPr>
        <p:blipFill rotWithShape="1">
          <a:blip r:embed="rId2"/>
          <a:srcRect t="20517" r="7186"/>
          <a:stretch/>
        </p:blipFill>
        <p:spPr>
          <a:xfrm>
            <a:off x="1536441" y="4049487"/>
            <a:ext cx="7109927" cy="2575248"/>
          </a:xfrm>
          <a:prstGeom prst="rect">
            <a:avLst/>
          </a:prstGeom>
          <a:effectLst>
            <a:softEdge rad="2794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531845"/>
            <a:ext cx="6589199" cy="1147665"/>
          </a:xfrm>
        </p:spPr>
        <p:txBody>
          <a:bodyPr>
            <a:normAutofit fontScale="90000"/>
          </a:bodyPr>
          <a:lstStyle/>
          <a:p>
            <a:pPr algn="ctr"/>
            <a:r>
              <a:rPr sz="3600" b="1" dirty="0" err="1">
                <a:latin typeface="Segoe Script"/>
              </a:rPr>
              <a:t>Модель</a:t>
            </a:r>
            <a:r>
              <a:rPr sz="3600" b="1" dirty="0">
                <a:latin typeface="Segoe Script"/>
              </a:rPr>
              <a:t> 2 — </a:t>
            </a:r>
            <a:r>
              <a:rPr sz="3600" b="1" dirty="0" err="1">
                <a:latin typeface="Segoe Script"/>
              </a:rPr>
              <a:t>RandomForest</a:t>
            </a:r>
            <a:endParaRPr sz="3600" b="1" dirty="0">
              <a:latin typeface="Segoe Scrip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194318"/>
            <a:ext cx="6591985" cy="2509935"/>
          </a:xfrm>
        </p:spPr>
        <p:txBody>
          <a:bodyPr/>
          <a:lstStyle/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Причина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нелінійні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зв'язки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взаємодії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між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ознаками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Тюнінг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n_estimators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max_depth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(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GridSearchCV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).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Тест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(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приблизно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): MAE≈2.5, RMSE≈23.9, MAPE≈3.3%, R²≈0.81.</a:t>
            </a:r>
          </a:p>
        </p:txBody>
      </p:sp>
      <p:pic>
        <p:nvPicPr>
          <p:cNvPr id="4" name="Picture 3" descr="a8f5977d-4140-4cc8-bedd-c8a6296aafa7.png"/>
          <p:cNvPicPr>
            <a:picLocks noChangeAspect="1"/>
          </p:cNvPicPr>
          <p:nvPr/>
        </p:nvPicPr>
        <p:blipFill rotWithShape="1">
          <a:blip r:embed="rId2"/>
          <a:srcRect l="1560" t="16608" r="3123"/>
          <a:stretch/>
        </p:blipFill>
        <p:spPr>
          <a:xfrm>
            <a:off x="1203648" y="3774766"/>
            <a:ext cx="7977674" cy="2701910"/>
          </a:xfrm>
          <a:prstGeom prst="rect">
            <a:avLst/>
          </a:prstGeom>
          <a:effectLst>
            <a:softEdge rad="1778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94523"/>
            <a:ext cx="6589199" cy="1222310"/>
          </a:xfrm>
        </p:spPr>
        <p:txBody>
          <a:bodyPr>
            <a:normAutofit/>
          </a:bodyPr>
          <a:lstStyle/>
          <a:p>
            <a:pPr algn="ctr"/>
            <a:r>
              <a:rPr sz="3600" b="1" dirty="0" err="1">
                <a:latin typeface="Segoe Script"/>
              </a:rPr>
              <a:t>Порівняння</a:t>
            </a:r>
            <a:r>
              <a:rPr sz="3600" b="1" dirty="0">
                <a:latin typeface="Segoe Script"/>
              </a:rPr>
              <a:t> </a:t>
            </a:r>
            <a:r>
              <a:rPr sz="3600" b="1" dirty="0" err="1">
                <a:latin typeface="Segoe Script"/>
              </a:rPr>
              <a:t>моделей</a:t>
            </a:r>
            <a:r>
              <a:rPr sz="3600" b="1" dirty="0">
                <a:latin typeface="Segoe Script"/>
              </a:rPr>
              <a:t> </a:t>
            </a:r>
            <a:r>
              <a:rPr sz="3600" b="1" dirty="0" err="1">
                <a:latin typeface="Segoe Script"/>
              </a:rPr>
              <a:t>на</a:t>
            </a:r>
            <a:r>
              <a:rPr sz="3600" b="1" dirty="0">
                <a:latin typeface="Segoe Script"/>
              </a:rPr>
              <a:t> </a:t>
            </a:r>
            <a:r>
              <a:rPr sz="3600" b="1" dirty="0" err="1">
                <a:latin typeface="Segoe Script"/>
              </a:rPr>
              <a:t>одному</a:t>
            </a:r>
            <a:r>
              <a:rPr sz="3600" b="1" dirty="0">
                <a:latin typeface="Segoe Script"/>
              </a:rPr>
              <a:t> </a:t>
            </a:r>
            <a:r>
              <a:rPr sz="3600" b="1" dirty="0" err="1">
                <a:latin typeface="Segoe Script"/>
              </a:rPr>
              <a:t>тесті</a:t>
            </a:r>
            <a:endParaRPr sz="3600" b="1" dirty="0">
              <a:latin typeface="Segoe Scrip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716834"/>
            <a:ext cx="6591985" cy="2593910"/>
          </a:xfrm>
        </p:spPr>
        <p:txBody>
          <a:bodyPr/>
          <a:lstStyle/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RandomForest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точніший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за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всіма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метриками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(MAE, RMSE, MAPE, R²).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Графік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залишків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у RF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розкид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менший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ніж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у Ridge.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Висновок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для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цих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даних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краще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працює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RandomForest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13" y="4310744"/>
            <a:ext cx="7483232" cy="2057578"/>
          </a:xfrm>
          <a:prstGeom prst="rect">
            <a:avLst/>
          </a:prstGeom>
          <a:effectLst>
            <a:softEdge rad="762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 dirty="0" err="1">
                <a:latin typeface="Segoe Script"/>
              </a:rPr>
              <a:t>Висновки</a:t>
            </a:r>
            <a:endParaRPr sz="3600" b="1" dirty="0">
              <a:latin typeface="Segoe Scrip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520890"/>
            <a:ext cx="6591985" cy="3097763"/>
          </a:xfrm>
        </p:spPr>
        <p:txBody>
          <a:bodyPr/>
          <a:lstStyle/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Найсильніший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сигнал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дають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площа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кімнати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/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ванни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місто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  <a:p>
            <a:r>
              <a:rPr sz="2200" dirty="0">
                <a:solidFill>
                  <a:srgbClr val="0070C0"/>
                </a:solidFill>
                <a:latin typeface="Segoe Script"/>
              </a:rPr>
              <a:t>One‑hot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кодування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міст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і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меблювання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—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критично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корисні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ознаки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Лінійний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Ridge —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базовий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орієнтир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але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для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точності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краще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RF.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201" y="4416128"/>
            <a:ext cx="6416351" cy="2238016"/>
          </a:xfrm>
          <a:prstGeom prst="rect">
            <a:avLst/>
          </a:prstGeom>
          <a:effectLst>
            <a:outerShdw blurRad="12700" dist="50800" dir="6000000" algn="ctr" rotWithShape="0">
              <a:schemeClr val="bg1">
                <a:alpha val="43000"/>
              </a:schemeClr>
            </a:outerShdw>
            <a:softEdge rad="2667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latin typeface="Segoe Script"/>
              </a:rPr>
              <a:t>Що я закріпив в процесі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>
                <a:solidFill>
                  <a:srgbClr val="0070C0"/>
                </a:solidFill>
                <a:latin typeface="Segoe Script"/>
              </a:rPr>
              <a:t>EDA: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перевірка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типів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розподілів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кореляцій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викидів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Препроцесинг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one‑hot,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масштабування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пайплайни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Sklearn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: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GridSearchCV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крос‑валідація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метрики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регресії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  <a:p>
            <a:r>
              <a:rPr sz="2200" dirty="0" err="1">
                <a:solidFill>
                  <a:srgbClr val="0070C0"/>
                </a:solidFill>
                <a:latin typeface="Segoe Script"/>
              </a:rPr>
              <a:t>Візуалізація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та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презентація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Segoe Script"/>
              </a:rPr>
              <a:t>результатів</a:t>
            </a:r>
            <a:r>
              <a:rPr sz="2200" dirty="0">
                <a:solidFill>
                  <a:srgbClr val="0070C0"/>
                </a:solidFill>
                <a:latin typeface="Segoe Script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6669" y="624110"/>
            <a:ext cx="5868955" cy="2548298"/>
          </a:xfrm>
        </p:spPr>
        <p:txBody>
          <a:bodyPr>
            <a:normAutofit fontScale="90000"/>
          </a:bodyPr>
          <a:lstStyle/>
          <a:p>
            <a:pPr algn="ctr"/>
            <a:r>
              <a:rPr lang="uk-UA" sz="6600" b="1" dirty="0" smtClean="0">
                <a:latin typeface="Segoe Script"/>
              </a:rPr>
              <a:t>Дякую       </a:t>
            </a:r>
            <a:r>
              <a:rPr lang="uk-UA" sz="6600" b="1" dirty="0">
                <a:latin typeface="Segoe Script"/>
              </a:rPr>
              <a:t>за увагу</a:t>
            </a:r>
            <a:r>
              <a:rPr lang="uk-UA" dirty="0"/>
              <a:t/>
            </a:r>
            <a:br>
              <a:rPr lang="uk-UA" dirty="0"/>
            </a:br>
            <a:endParaRPr sz="3600" b="1" dirty="0">
              <a:latin typeface="Segoe Scrip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651" y="2696017"/>
            <a:ext cx="4168501" cy="3238781"/>
          </a:xfrm>
          <a:prstGeom prst="rect">
            <a:avLst/>
          </a:prstGeom>
          <a:effectLst>
            <a:softEdge rad="393700"/>
          </a:effectLst>
        </p:spPr>
      </p:pic>
    </p:spTree>
    <p:extLst>
      <p:ext uri="{BB962C8B-B14F-4D97-AF65-F5344CB8AC3E}">
        <p14:creationId xmlns:p14="http://schemas.microsoft.com/office/powerpoint/2010/main" val="86336732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56</TotalTime>
  <Words>378</Words>
  <Application>Microsoft Office PowerPoint</Application>
  <PresentationFormat>Экран (4:3)</PresentationFormat>
  <Paragraphs>51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Segoe Script</vt:lpstr>
      <vt:lpstr>Wingdings 3</vt:lpstr>
      <vt:lpstr>Легкий дым</vt:lpstr>
      <vt:lpstr>Фінальний проект  курсу</vt:lpstr>
      <vt:lpstr>Про мене</vt:lpstr>
      <vt:lpstr> Постановка задачі</vt:lpstr>
      <vt:lpstr>Короткий аналіз даних</vt:lpstr>
      <vt:lpstr>Підготовка даних — що зроблено</vt:lpstr>
      <vt:lpstr>Схема тренування та валідації</vt:lpstr>
      <vt:lpstr>Ключові кореляції (огляд EDA)</vt:lpstr>
      <vt:lpstr>Модель 1 — Ridge (з підбором α)</vt:lpstr>
      <vt:lpstr>Модель 2 — RandomForest</vt:lpstr>
      <vt:lpstr>Порівняння моделей на одному тесті</vt:lpstr>
      <vt:lpstr>Висновки</vt:lpstr>
      <vt:lpstr>Що я закріпив в процесі</vt:lpstr>
      <vt:lpstr>Дякую       за увагу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Прогнозування ціни оренди </dc:title>
  <dc:subject/>
  <dc:creator/>
  <cp:keywords/>
  <dc:description>generated using python-pptx</dc:description>
  <cp:lastModifiedBy>Asus</cp:lastModifiedBy>
  <cp:revision>8</cp:revision>
  <dcterms:created xsi:type="dcterms:W3CDTF">2013-01-27T09:14:16Z</dcterms:created>
  <dcterms:modified xsi:type="dcterms:W3CDTF">2025-08-31T13:48:03Z</dcterms:modified>
  <cp:category/>
</cp:coreProperties>
</file>